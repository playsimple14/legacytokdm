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frame this update around our Q2 research prototype. We are focusing on making legacy-system understanding more structured, explainable, and useful for modernization.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here is knowledge recovery. We need to surface what the system actually does, which data it touches, and which business rules it encodes. And since legacy knowledge is trapped in procedural code, manual understanding is far too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that legacy challenge, our objective is to turn source code into structured knowledge. We want to convert COBOL source into a KDM-oriented representation through a multi-agent analysis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this approach, specialization becomes our core design choice. We are asking whether specialized analysis agents can improve extraction quality and explainability versus a single mapper or deterministic rules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that experimental design, our pipeline is structured to separate evidence, interpretation, and validation. Parsing creates a shared intermediate representation, specialized agents analyze it independently, and validation runs before serialization.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successfully completed our core engineering objectives for this quarter. The system now integrates parser logic, multi-agent orchestration, and structured validation into a cohesive workflow. And while this is a working research prototype rather than a production-ready converter, it gives us a complete baseline to build upon. We are shifting our focus directly from building architecture to measuring performance, leading us right into our evaluation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the architecture was the first step, but now we need empirical validation. We are moving from qualitative design to a rigorous comparative study using labeled COBOL benchmarks. And this involves tracking accuracy, cost, and validity across different extraction methods. So our roadmap for the next phase prioritizes measurement over new claims, setting the stage for our final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architectural foundation gives us both modularity and reproducibility through specialized agents and deterministic fallbacks. But the true value of this multi-agent approach must be proven through systematic evaluation. We are ready to move from a working prototype into a measurable study, and I welcome any questions you have on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85788" y="450056"/>
            <a:ext cx="7972425" cy="132159"/>
          </a:xfrm>
          <a:prstGeom prst="rect">
            <a:avLst/>
          </a:prstGeom>
          <a:noFill/>
          <a:ln/>
        </p:spPr>
        <p:txBody>
          <a:bodyPr wrap="square" lIns="0" tIns="0" rIns="0" bIns="0" rtlCol="0" anchor="t">
            <a:spAutoFit/>
          </a:bodyPr>
          <a:lstStyle/>
          <a:p>
            <a:pPr algn="l" indent="0" marL="0">
              <a:buNone/>
            </a:pPr>
            <a:r>
              <a:rPr lang="en-US" sz="800" b="1" spc="2" kern="0" dirty="0">
                <a:solidFill>
                  <a:srgbClr val="63D5E8"/>
                </a:solidFill>
                <a:latin typeface="Arial" pitchFamily="34" charset="0"/>
                <a:ea typeface="Arial" pitchFamily="34" charset="-122"/>
                <a:cs typeface="Arial" pitchFamily="34" charset="-120"/>
              </a:rPr>
              <a:t>Q2 PROJECT STATUS UPDATE</a:t>
            </a:r>
            <a:endParaRPr lang="en-US" sz="800" dirty="0"/>
          </a:p>
        </p:txBody>
      </p:sp>
      <p:sp>
        <p:nvSpPr>
          <p:cNvPr id="5" name="Text 1"/>
          <p:cNvSpPr/>
          <p:nvPr/>
        </p:nvSpPr>
        <p:spPr>
          <a:xfrm>
            <a:off x="585788" y="782241"/>
            <a:ext cx="5429250" cy="870086"/>
          </a:xfrm>
          <a:prstGeom prst="rect">
            <a:avLst/>
          </a:prstGeom>
          <a:noFill/>
          <a:ln/>
        </p:spPr>
        <p:txBody>
          <a:bodyPr wrap="square" lIns="0" tIns="0" rIns="0" bIns="0" rtlCol="0" anchor="t">
            <a:spAutoFit/>
          </a:bodyPr>
          <a:lstStyle/>
          <a:p>
            <a:pPr algn="l" indent="0" marL="0">
              <a:lnSpc>
                <a:spcPct val="84000"/>
              </a:lnSpc>
              <a:buNone/>
            </a:pPr>
            <a:r>
              <a:rPr lang="en-US" sz="2950" b="1" spc="-1" kern="0" dirty="0">
                <a:solidFill>
                  <a:srgbClr val="F8FAFC"/>
                </a:solidFill>
                <a:latin typeface="Arial" pitchFamily="34" charset="0"/>
                <a:ea typeface="Arial" pitchFamily="34" charset="-122"/>
                <a:cs typeface="Arial" pitchFamily="34" charset="-120"/>
              </a:rPr>
              <a:t>Multi-Agent GenAI for COBOL-to-KDM Conversion</a:t>
            </a:r>
            <a:endParaRPr lang="en-US" sz="2950" dirty="0"/>
          </a:p>
        </p:txBody>
      </p:sp>
      <p:sp>
        <p:nvSpPr>
          <p:cNvPr id="6" name="Text 2"/>
          <p:cNvSpPr/>
          <p:nvPr/>
        </p:nvSpPr>
        <p:spPr>
          <a:xfrm>
            <a:off x="585788" y="2130958"/>
            <a:ext cx="5000625" cy="462893"/>
          </a:xfrm>
          <a:prstGeom prst="rect">
            <a:avLst/>
          </a:prstGeom>
          <a:noFill/>
          <a:ln/>
        </p:spPr>
        <p:txBody>
          <a:bodyPr wrap="square" lIns="0" tIns="0" rIns="0" bIns="0" rtlCol="0" anchor="t">
            <a:spAutoFit/>
          </a:bodyPr>
          <a:lstStyle/>
          <a:p>
            <a:pPr algn="l" indent="0" marL="0">
              <a:lnSpc>
                <a:spcPct val="108000"/>
              </a:lnSpc>
              <a:buNone/>
            </a:pPr>
            <a:r>
              <a:rPr lang="en-US" sz="1250" dirty="0">
                <a:solidFill>
                  <a:srgbClr val="B5C4D6"/>
                </a:solidFill>
                <a:latin typeface="Arial" pitchFamily="34" charset="0"/>
                <a:ea typeface="Arial" pitchFamily="34" charset="-122"/>
                <a:cs typeface="Arial" pitchFamily="34" charset="-120"/>
              </a:rPr>
              <a:t>A research prototype for recovering structure, data flow, and business rules from legacy COBOL.</a:t>
            </a:r>
            <a:endParaRPr lang="en-US" sz="1250" dirty="0"/>
          </a:p>
        </p:txBody>
      </p:sp>
      <p:sp>
        <p:nvSpPr>
          <p:cNvPr id="7" name="Text 3"/>
          <p:cNvSpPr/>
          <p:nvPr/>
        </p:nvSpPr>
        <p:spPr>
          <a:xfrm>
            <a:off x="585788" y="3008188"/>
            <a:ext cx="1545952" cy="114300"/>
          </a:xfrm>
          <a:prstGeom prst="rect">
            <a:avLst/>
          </a:prstGeom>
          <a:noFill/>
          <a:ln/>
        </p:spPr>
        <p:txBody>
          <a:bodyPr wrap="square" lIns="0" tIns="0" rIns="0" bIns="0" rtlCol="0" anchor="t">
            <a:spAutoFit/>
          </a:bodyPr>
          <a:lstStyle/>
          <a:p>
            <a:pPr algn="l" indent="0" marL="0">
              <a:buNone/>
            </a:pPr>
            <a:r>
              <a:rPr lang="en-US" sz="700" b="1" spc="1" kern="0" dirty="0">
                <a:solidFill>
                  <a:srgbClr val="F8FAFC"/>
                </a:solidFill>
                <a:latin typeface="Arial" pitchFamily="34" charset="0"/>
                <a:ea typeface="Arial" pitchFamily="34" charset="-122"/>
                <a:cs typeface="Arial" pitchFamily="34" charset="-120"/>
              </a:rPr>
              <a:t>PROJECT</a:t>
            </a:r>
            <a:endParaRPr lang="en-US" sz="700" dirty="0"/>
          </a:p>
        </p:txBody>
      </p:sp>
      <p:sp>
        <p:nvSpPr>
          <p:cNvPr id="8" name="Text 4"/>
          <p:cNvSpPr/>
          <p:nvPr/>
        </p:nvSpPr>
        <p:spPr>
          <a:xfrm>
            <a:off x="585788" y="3179638"/>
            <a:ext cx="1545952" cy="128588"/>
          </a:xfrm>
          <a:prstGeom prst="rect">
            <a:avLst/>
          </a:prstGeom>
          <a:noFill/>
          <a:ln/>
        </p:spPr>
        <p:txBody>
          <a:bodyPr wrap="square" lIns="0" tIns="0" rIns="0" bIns="0" rtlCol="0" anchor="t">
            <a:spAutoFit/>
          </a:bodyPr>
          <a:lstStyle/>
          <a:p>
            <a:pPr algn="l" indent="0" marL="0">
              <a:buNone/>
            </a:pPr>
            <a:r>
              <a:rPr lang="en-US" sz="850" dirty="0">
                <a:solidFill>
                  <a:srgbClr val="B5C4D6"/>
                </a:solidFill>
                <a:latin typeface="Arial" pitchFamily="34" charset="0"/>
                <a:ea typeface="Arial" pitchFamily="34" charset="-122"/>
                <a:cs typeface="Arial" pitchFamily="34" charset="-120"/>
              </a:rPr>
              <a:t>Legacy COBOL Modernization</a:t>
            </a:r>
            <a:endParaRPr lang="en-US" sz="850" dirty="0"/>
          </a:p>
        </p:txBody>
      </p:sp>
      <p:sp>
        <p:nvSpPr>
          <p:cNvPr id="9" name="Text 5"/>
          <p:cNvSpPr/>
          <p:nvPr/>
        </p:nvSpPr>
        <p:spPr>
          <a:xfrm>
            <a:off x="2374627" y="3008188"/>
            <a:ext cx="2172314" cy="114300"/>
          </a:xfrm>
          <a:prstGeom prst="rect">
            <a:avLst/>
          </a:prstGeom>
          <a:noFill/>
          <a:ln/>
        </p:spPr>
        <p:txBody>
          <a:bodyPr wrap="square" lIns="0" tIns="0" rIns="0" bIns="0" rtlCol="0" anchor="t">
            <a:spAutoFit/>
          </a:bodyPr>
          <a:lstStyle/>
          <a:p>
            <a:pPr algn="l" indent="0" marL="0">
              <a:buNone/>
            </a:pPr>
            <a:r>
              <a:rPr lang="en-US" sz="700" b="1" spc="1" kern="0" dirty="0">
                <a:solidFill>
                  <a:srgbClr val="F8FAFC"/>
                </a:solidFill>
                <a:latin typeface="Arial" pitchFamily="34" charset="0"/>
                <a:ea typeface="Arial" pitchFamily="34" charset="-122"/>
                <a:cs typeface="Arial" pitchFamily="34" charset="-120"/>
              </a:rPr>
              <a:t>TECHNOLOGY</a:t>
            </a:r>
            <a:endParaRPr lang="en-US" sz="700" dirty="0"/>
          </a:p>
        </p:txBody>
      </p:sp>
      <p:sp>
        <p:nvSpPr>
          <p:cNvPr id="10" name="Text 6"/>
          <p:cNvSpPr/>
          <p:nvPr/>
        </p:nvSpPr>
        <p:spPr>
          <a:xfrm>
            <a:off x="2374627" y="3179638"/>
            <a:ext cx="2172314" cy="128588"/>
          </a:xfrm>
          <a:prstGeom prst="rect">
            <a:avLst/>
          </a:prstGeom>
          <a:noFill/>
          <a:ln/>
        </p:spPr>
        <p:txBody>
          <a:bodyPr wrap="square" lIns="0" tIns="0" rIns="0" bIns="0" rtlCol="0" anchor="t">
            <a:spAutoFit/>
          </a:bodyPr>
          <a:lstStyle/>
          <a:p>
            <a:pPr algn="l" indent="0" marL="0">
              <a:buNone/>
            </a:pPr>
            <a:r>
              <a:rPr lang="en-US" sz="850" dirty="0">
                <a:solidFill>
                  <a:srgbClr val="B5C4D6"/>
                </a:solidFill>
                <a:latin typeface="Arial" pitchFamily="34" charset="0"/>
                <a:ea typeface="Arial" pitchFamily="34" charset="-122"/>
                <a:cs typeface="Arial" pitchFamily="34" charset="-120"/>
              </a:rPr>
              <a:t>ANTLR · Python · Pydantic · Gemini · XML</a:t>
            </a:r>
            <a:endParaRPr lang="en-US" sz="850" dirty="0"/>
          </a:p>
        </p:txBody>
      </p:sp>
      <p:sp>
        <p:nvSpPr>
          <p:cNvPr id="11" name="Text 7"/>
          <p:cNvSpPr/>
          <p:nvPr/>
        </p:nvSpPr>
        <p:spPr>
          <a:xfrm>
            <a:off x="4789829" y="3008188"/>
            <a:ext cx="997502" cy="114300"/>
          </a:xfrm>
          <a:prstGeom prst="rect">
            <a:avLst/>
          </a:prstGeom>
          <a:noFill/>
          <a:ln/>
        </p:spPr>
        <p:txBody>
          <a:bodyPr wrap="none" lIns="0" tIns="0" rIns="0" bIns="0" rtlCol="0" anchor="t">
            <a:spAutoFit/>
          </a:bodyPr>
          <a:lstStyle/>
          <a:p>
            <a:pPr algn="l" indent="0" marL="0">
              <a:buNone/>
            </a:pPr>
            <a:r>
              <a:rPr lang="en-US" sz="700" b="1" spc="1" kern="0" dirty="0">
                <a:solidFill>
                  <a:srgbClr val="F8FAFC"/>
                </a:solidFill>
                <a:latin typeface="Arial" pitchFamily="34" charset="0"/>
                <a:ea typeface="Arial" pitchFamily="34" charset="-122"/>
                <a:cs typeface="Arial" pitchFamily="34" charset="-120"/>
              </a:rPr>
              <a:t>STATUS</a:t>
            </a:r>
            <a:endParaRPr lang="en-US" sz="700" dirty="0"/>
          </a:p>
        </p:txBody>
      </p:sp>
      <p:sp>
        <p:nvSpPr>
          <p:cNvPr id="12" name="Text 8"/>
          <p:cNvSpPr/>
          <p:nvPr/>
        </p:nvSpPr>
        <p:spPr>
          <a:xfrm>
            <a:off x="4789829" y="3179638"/>
            <a:ext cx="997502" cy="128588"/>
          </a:xfrm>
          <a:prstGeom prst="rect">
            <a:avLst/>
          </a:prstGeom>
          <a:noFill/>
          <a:ln/>
        </p:spPr>
        <p:txBody>
          <a:bodyPr wrap="none" lIns="0" tIns="0" rIns="0" bIns="0" rtlCol="0" anchor="t">
            <a:spAutoFit/>
          </a:bodyPr>
          <a:lstStyle/>
          <a:p>
            <a:pPr algn="l" indent="0" marL="0">
              <a:buNone/>
            </a:pPr>
            <a:r>
              <a:rPr lang="en-US" sz="850" dirty="0">
                <a:solidFill>
                  <a:srgbClr val="B5C4D6"/>
                </a:solidFill>
                <a:latin typeface="Arial" pitchFamily="34" charset="0"/>
                <a:ea typeface="Arial" pitchFamily="34" charset="-122"/>
                <a:cs typeface="Arial" pitchFamily="34" charset="-120"/>
              </a:rPr>
              <a:t>Research prototype</a:t>
            </a:r>
            <a:endParaRPr lang="en-US" sz="850" dirty="0"/>
          </a:p>
        </p:txBody>
      </p:sp>
      <p:sp>
        <p:nvSpPr>
          <p:cNvPr id="13" name="Shape 9"/>
          <p:cNvSpPr/>
          <p:nvPr/>
        </p:nvSpPr>
        <p:spPr>
          <a:xfrm>
            <a:off x="6443663" y="1221581"/>
            <a:ext cx="657337" cy="342900"/>
          </a:xfrm>
          <a:prstGeom prst="rect">
            <a:avLst/>
          </a:prstGeom>
          <a:solidFill>
            <a:srgbClr val="0D263E"/>
          </a:solidFill>
          <a:ln w="9144">
            <a:solidFill>
              <a:srgbClr val="2F6D89"/>
            </a:solidFill>
            <a:prstDash val="solid"/>
          </a:ln>
        </p:spPr>
      </p:sp>
      <p:sp>
        <p:nvSpPr>
          <p:cNvPr id="14" name="Text 10"/>
          <p:cNvSpPr/>
          <p:nvPr/>
        </p:nvSpPr>
        <p:spPr>
          <a:xfrm>
            <a:off x="6443663" y="1221581"/>
            <a:ext cx="657337" cy="342900"/>
          </a:xfrm>
          <a:prstGeom prst="rect">
            <a:avLst/>
          </a:prstGeom>
          <a:noFill/>
          <a:ln/>
        </p:spPr>
        <p:txBody>
          <a:bodyPr wrap="none" lIns="153035" tIns="127508" rIns="153035" bIns="127508" rtlCol="0" anchor="t">
            <a:spAutoFit/>
          </a:bodyPr>
          <a:lstStyle/>
          <a:p>
            <a:pPr algn="l" indent="0" marL="0">
              <a:buNone/>
            </a:pPr>
            <a:r>
              <a:rPr lang="en-US" sz="750" spc="1" kern="0" dirty="0">
                <a:solidFill>
                  <a:srgbClr val="9FE8F1"/>
                </a:solidFill>
                <a:latin typeface="Arial" pitchFamily="34" charset="0"/>
                <a:ea typeface="Arial" pitchFamily="34" charset="-122"/>
                <a:cs typeface="Arial" pitchFamily="34" charset="-120"/>
              </a:rPr>
              <a:t>COBOL</a:t>
            </a:r>
            <a:endParaRPr lang="en-US" sz="750" dirty="0"/>
          </a:p>
        </p:txBody>
      </p:sp>
      <p:sp>
        <p:nvSpPr>
          <p:cNvPr id="15" name="Shape 11"/>
          <p:cNvSpPr/>
          <p:nvPr/>
        </p:nvSpPr>
        <p:spPr>
          <a:xfrm>
            <a:off x="7718320" y="1807369"/>
            <a:ext cx="725593" cy="342900"/>
          </a:xfrm>
          <a:prstGeom prst="rect">
            <a:avLst/>
          </a:prstGeom>
          <a:solidFill>
            <a:srgbClr val="0D263E"/>
          </a:solidFill>
          <a:ln w="9144">
            <a:solidFill>
              <a:srgbClr val="2F6D89"/>
            </a:solidFill>
            <a:prstDash val="solid"/>
          </a:ln>
        </p:spPr>
      </p:sp>
      <p:sp>
        <p:nvSpPr>
          <p:cNvPr id="16" name="Text 12"/>
          <p:cNvSpPr/>
          <p:nvPr/>
        </p:nvSpPr>
        <p:spPr>
          <a:xfrm>
            <a:off x="7718320" y="1807369"/>
            <a:ext cx="725593" cy="342900"/>
          </a:xfrm>
          <a:prstGeom prst="rect">
            <a:avLst/>
          </a:prstGeom>
          <a:noFill/>
          <a:ln/>
        </p:spPr>
        <p:txBody>
          <a:bodyPr wrap="none" lIns="153035" tIns="127508" rIns="153035" bIns="127508" rtlCol="0" anchor="t">
            <a:spAutoFit/>
          </a:bodyPr>
          <a:lstStyle/>
          <a:p>
            <a:pPr algn="l" indent="0" marL="0">
              <a:buNone/>
            </a:pPr>
            <a:r>
              <a:rPr lang="en-US" sz="750" spc="1" kern="0" dirty="0">
                <a:solidFill>
                  <a:srgbClr val="9FE8F1"/>
                </a:solidFill>
                <a:latin typeface="Arial" pitchFamily="34" charset="0"/>
                <a:ea typeface="Arial" pitchFamily="34" charset="-122"/>
                <a:cs typeface="Arial" pitchFamily="34" charset="-120"/>
              </a:rPr>
              <a:t>AGENTS</a:t>
            </a:r>
            <a:endParaRPr lang="en-US" sz="750" dirty="0"/>
          </a:p>
        </p:txBody>
      </p:sp>
      <p:sp>
        <p:nvSpPr>
          <p:cNvPr id="17" name="Shape 13"/>
          <p:cNvSpPr/>
          <p:nvPr/>
        </p:nvSpPr>
        <p:spPr>
          <a:xfrm>
            <a:off x="6686550" y="2564606"/>
            <a:ext cx="515187" cy="342900"/>
          </a:xfrm>
          <a:prstGeom prst="rect">
            <a:avLst/>
          </a:prstGeom>
          <a:solidFill>
            <a:srgbClr val="0D263E"/>
          </a:solidFill>
          <a:ln w="9144">
            <a:solidFill>
              <a:srgbClr val="2F6D89"/>
            </a:solidFill>
            <a:prstDash val="solid"/>
          </a:ln>
        </p:spPr>
      </p:sp>
      <p:sp>
        <p:nvSpPr>
          <p:cNvPr id="18" name="Text 14"/>
          <p:cNvSpPr/>
          <p:nvPr/>
        </p:nvSpPr>
        <p:spPr>
          <a:xfrm>
            <a:off x="6686550" y="2564606"/>
            <a:ext cx="515187" cy="342900"/>
          </a:xfrm>
          <a:prstGeom prst="rect">
            <a:avLst/>
          </a:prstGeom>
          <a:noFill/>
          <a:ln/>
        </p:spPr>
        <p:txBody>
          <a:bodyPr wrap="none" lIns="153035" tIns="127508" rIns="153035" bIns="127508" rtlCol="0" anchor="t">
            <a:spAutoFit/>
          </a:bodyPr>
          <a:lstStyle/>
          <a:p>
            <a:pPr algn="l" indent="0" marL="0">
              <a:buNone/>
            </a:pPr>
            <a:r>
              <a:rPr lang="en-US" sz="750" spc="1" kern="0" dirty="0">
                <a:solidFill>
                  <a:srgbClr val="9FE8F1"/>
                </a:solidFill>
                <a:latin typeface="Arial" pitchFamily="34" charset="0"/>
                <a:ea typeface="Arial" pitchFamily="34" charset="-122"/>
                <a:cs typeface="Arial" pitchFamily="34" charset="-120"/>
              </a:rPr>
              <a:t>KDM</a:t>
            </a:r>
            <a:endParaRPr lang="en-US" sz="750" dirty="0"/>
          </a:p>
        </p:txBody>
      </p:sp>
      <p:sp>
        <p:nvSpPr>
          <p:cNvPr id="19" name="Shape 15"/>
          <p:cNvSpPr/>
          <p:nvPr/>
        </p:nvSpPr>
        <p:spPr>
          <a:xfrm>
            <a:off x="7503672" y="3093244"/>
            <a:ext cx="797365" cy="342900"/>
          </a:xfrm>
          <a:prstGeom prst="rect">
            <a:avLst/>
          </a:prstGeom>
          <a:solidFill>
            <a:srgbClr val="0D263E"/>
          </a:solidFill>
          <a:ln w="9144">
            <a:solidFill>
              <a:srgbClr val="9A6D36"/>
            </a:solidFill>
            <a:prstDash val="solid"/>
          </a:ln>
        </p:spPr>
      </p:sp>
      <p:sp>
        <p:nvSpPr>
          <p:cNvPr id="20" name="Text 16"/>
          <p:cNvSpPr/>
          <p:nvPr/>
        </p:nvSpPr>
        <p:spPr>
          <a:xfrm>
            <a:off x="7503672" y="3093244"/>
            <a:ext cx="797365" cy="342900"/>
          </a:xfrm>
          <a:prstGeom prst="rect">
            <a:avLst/>
          </a:prstGeom>
          <a:noFill/>
          <a:ln/>
        </p:spPr>
        <p:txBody>
          <a:bodyPr wrap="none" lIns="153035" tIns="127508" rIns="153035" bIns="127508" rtlCol="0" anchor="t">
            <a:spAutoFit/>
          </a:bodyPr>
          <a:lstStyle/>
          <a:p>
            <a:pPr algn="l" indent="0" marL="0">
              <a:buNone/>
            </a:pPr>
            <a:r>
              <a:rPr lang="en-US" sz="750" spc="1" kern="0" dirty="0">
                <a:solidFill>
                  <a:srgbClr val="F7C98D"/>
                </a:solidFill>
                <a:latin typeface="Arial" pitchFamily="34" charset="0"/>
                <a:ea typeface="Arial" pitchFamily="34" charset="-122"/>
                <a:cs typeface="Arial" pitchFamily="34" charset="-120"/>
              </a:rPr>
              <a:t>VALIDATE</a:t>
            </a:r>
            <a:endParaRPr lang="en-US" sz="750" dirty="0"/>
          </a:p>
        </p:txBody>
      </p:sp>
      <p:sp>
        <p:nvSpPr>
          <p:cNvPr id="21" name="Text 17"/>
          <p:cNvSpPr/>
          <p:nvPr/>
        </p:nvSpPr>
        <p:spPr>
          <a:xfrm>
            <a:off x="585788" y="4768453"/>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22" name="Text 18"/>
          <p:cNvSpPr/>
          <p:nvPr/>
        </p:nvSpPr>
        <p:spPr>
          <a:xfrm>
            <a:off x="8440620" y="4768453"/>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01</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85788" y="514350"/>
            <a:ext cx="7972425"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01 / WHY THIS MATTERS</a:t>
            </a:r>
            <a:endParaRPr lang="en-US" sz="700" dirty="0"/>
          </a:p>
        </p:txBody>
      </p:sp>
      <p:sp>
        <p:nvSpPr>
          <p:cNvPr id="5" name="Text 1"/>
          <p:cNvSpPr/>
          <p:nvPr/>
        </p:nvSpPr>
        <p:spPr>
          <a:xfrm>
            <a:off x="585788" y="757238"/>
            <a:ext cx="5429250" cy="694283"/>
          </a:xfrm>
          <a:prstGeom prst="rect">
            <a:avLst/>
          </a:prstGeom>
          <a:noFill/>
          <a:ln/>
        </p:spPr>
        <p:txBody>
          <a:bodyPr wrap="square" lIns="0" tIns="0" rIns="0" bIns="0" rtlCol="0" anchor="t">
            <a:spAutoFit/>
          </a:bodyPr>
          <a:lstStyle/>
          <a:p>
            <a:pPr algn="l" indent="0" marL="0">
              <a:lnSpc>
                <a:spcPct val="86400"/>
              </a:lnSpc>
              <a:buNone/>
            </a:pPr>
            <a:r>
              <a:rPr lang="en-US" sz="2400" dirty="0">
                <a:solidFill>
                  <a:srgbClr val="F8FAFC"/>
                </a:solidFill>
                <a:latin typeface="Arial" pitchFamily="34" charset="0"/>
                <a:ea typeface="Arial" pitchFamily="34" charset="-122"/>
                <a:cs typeface="Arial" pitchFamily="34" charset="-120"/>
              </a:rPr>
              <a:t>Legacy knowledge is trapped in procedural code</a:t>
            </a:r>
            <a:endParaRPr lang="en-US" sz="2400" dirty="0"/>
          </a:p>
        </p:txBody>
      </p:sp>
      <p:sp>
        <p:nvSpPr>
          <p:cNvPr id="6" name="Text 2"/>
          <p:cNvSpPr/>
          <p:nvPr/>
        </p:nvSpPr>
        <p:spPr>
          <a:xfrm>
            <a:off x="585788" y="1580108"/>
            <a:ext cx="5715000" cy="404961"/>
          </a:xfrm>
          <a:prstGeom prst="rect">
            <a:avLst/>
          </a:prstGeom>
          <a:noFill/>
          <a:ln/>
        </p:spPr>
        <p:txBody>
          <a:bodyPr wrap="square" lIns="0" tIns="0" rIns="0" bIns="0" rtlCol="0" anchor="t">
            <a:spAutoFit/>
          </a:bodyPr>
          <a:lstStyle/>
          <a:p>
            <a:pPr algn="l" indent="0" marL="0">
              <a:lnSpc>
                <a:spcPct val="108000"/>
              </a:lnSpc>
              <a:buNone/>
            </a:pPr>
            <a:r>
              <a:rPr lang="en-US" sz="1100" dirty="0">
                <a:solidFill>
                  <a:srgbClr val="B5C4D6"/>
                </a:solidFill>
                <a:latin typeface="Arial" pitchFamily="34" charset="0"/>
                <a:ea typeface="Arial" pitchFamily="34" charset="-122"/>
                <a:cs typeface="Arial" pitchFamily="34" charset="-120"/>
              </a:rPr>
              <a:t>The modernization challenge is to recover what the system means—not simply translate what the syntax says.</a:t>
            </a:r>
            <a:endParaRPr lang="en-US" sz="1100" dirty="0"/>
          </a:p>
        </p:txBody>
      </p:sp>
      <p:sp>
        <p:nvSpPr>
          <p:cNvPr id="7" name="Text 3"/>
          <p:cNvSpPr/>
          <p:nvPr/>
        </p:nvSpPr>
        <p:spPr>
          <a:xfrm>
            <a:off x="585788" y="2599432"/>
            <a:ext cx="2476481" cy="375047"/>
          </a:xfrm>
          <a:prstGeom prst="rect">
            <a:avLst/>
          </a:prstGeom>
          <a:noFill/>
          <a:ln/>
        </p:spPr>
        <p:txBody>
          <a:bodyPr wrap="square" lIns="0" tIns="0" rIns="0" bIns="0" rtlCol="0" anchor="t">
            <a:spAutoFit/>
          </a:bodyPr>
          <a:lstStyle/>
          <a:p>
            <a:pPr algn="l" indent="0" marL="0">
              <a:buNone/>
            </a:pPr>
            <a:r>
              <a:rPr lang="en-US" sz="2350" b="1" dirty="0">
                <a:solidFill>
                  <a:srgbClr val="DCE7F2"/>
                </a:solidFill>
                <a:latin typeface="Arial" pitchFamily="34" charset="0"/>
                <a:ea typeface="Arial" pitchFamily="34" charset="-122"/>
                <a:cs typeface="Arial" pitchFamily="34" charset="-120"/>
              </a:rPr>
              <a:t>01</a:t>
            </a:r>
            <a:endParaRPr lang="en-US" sz="2350" dirty="0"/>
          </a:p>
        </p:txBody>
      </p:sp>
      <p:sp>
        <p:nvSpPr>
          <p:cNvPr id="8" name="Text 4"/>
          <p:cNvSpPr/>
          <p:nvPr/>
        </p:nvSpPr>
        <p:spPr>
          <a:xfrm>
            <a:off x="585788" y="3074491"/>
            <a:ext cx="2476481" cy="160734"/>
          </a:xfrm>
          <a:prstGeom prst="rect">
            <a:avLst/>
          </a:prstGeom>
          <a:noFill/>
          <a:ln/>
        </p:spPr>
        <p:txBody>
          <a:bodyPr wrap="square" lIns="0" tIns="0" rIns="0" bIns="0" rtlCol="0" anchor="t">
            <a:spAutoFit/>
          </a:bodyPr>
          <a:lstStyle/>
          <a:p>
            <a:pPr algn="l" indent="0" marL="0">
              <a:buNone/>
            </a:pPr>
            <a:r>
              <a:rPr lang="en-US" sz="1000" b="1" dirty="0">
                <a:solidFill>
                  <a:srgbClr val="F8FAFC"/>
                </a:solidFill>
                <a:latin typeface="Arial" pitchFamily="34" charset="0"/>
                <a:ea typeface="Arial" pitchFamily="34" charset="-122"/>
                <a:cs typeface="Arial" pitchFamily="34" charset="-120"/>
              </a:rPr>
              <a:t>Critical systems</a:t>
            </a:r>
            <a:endParaRPr lang="en-US" sz="1000" dirty="0"/>
          </a:p>
        </p:txBody>
      </p:sp>
      <p:sp>
        <p:nvSpPr>
          <p:cNvPr id="9" name="Text 5"/>
          <p:cNvSpPr/>
          <p:nvPr/>
        </p:nvSpPr>
        <p:spPr>
          <a:xfrm>
            <a:off x="585788" y="3306663"/>
            <a:ext cx="2476481" cy="509997"/>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B5C4D6"/>
                </a:solidFill>
                <a:latin typeface="Arial" pitchFamily="34" charset="0"/>
                <a:ea typeface="Arial" pitchFamily="34" charset="-122"/>
                <a:cs typeface="Arial" pitchFamily="34" charset="-120"/>
              </a:rPr>
              <a:t>COBOL remains embedded in banking, insurance, government, and business operations.</a:t>
            </a:r>
            <a:endParaRPr lang="en-US" sz="900" dirty="0"/>
          </a:p>
        </p:txBody>
      </p:sp>
      <p:sp>
        <p:nvSpPr>
          <p:cNvPr id="10" name="Text 6"/>
          <p:cNvSpPr/>
          <p:nvPr/>
        </p:nvSpPr>
        <p:spPr>
          <a:xfrm>
            <a:off x="3333731" y="2599432"/>
            <a:ext cx="2476481" cy="375047"/>
          </a:xfrm>
          <a:prstGeom prst="rect">
            <a:avLst/>
          </a:prstGeom>
          <a:noFill/>
          <a:ln/>
        </p:spPr>
        <p:txBody>
          <a:bodyPr wrap="square" lIns="0" tIns="0" rIns="0" bIns="0" rtlCol="0" anchor="t">
            <a:spAutoFit/>
          </a:bodyPr>
          <a:lstStyle/>
          <a:p>
            <a:pPr algn="l" indent="0" marL="0">
              <a:buNone/>
            </a:pPr>
            <a:r>
              <a:rPr lang="en-US" sz="2350" b="1" dirty="0">
                <a:solidFill>
                  <a:srgbClr val="DCE7F2"/>
                </a:solidFill>
                <a:latin typeface="Arial" pitchFamily="34" charset="0"/>
                <a:ea typeface="Arial" pitchFamily="34" charset="-122"/>
                <a:cs typeface="Arial" pitchFamily="34" charset="-120"/>
              </a:rPr>
              <a:t>02</a:t>
            </a:r>
            <a:endParaRPr lang="en-US" sz="2350" dirty="0"/>
          </a:p>
        </p:txBody>
      </p:sp>
      <p:sp>
        <p:nvSpPr>
          <p:cNvPr id="11" name="Text 7"/>
          <p:cNvSpPr/>
          <p:nvPr/>
        </p:nvSpPr>
        <p:spPr>
          <a:xfrm>
            <a:off x="3333731" y="3074491"/>
            <a:ext cx="2476481" cy="160734"/>
          </a:xfrm>
          <a:prstGeom prst="rect">
            <a:avLst/>
          </a:prstGeom>
          <a:noFill/>
          <a:ln/>
        </p:spPr>
        <p:txBody>
          <a:bodyPr wrap="square" lIns="0" tIns="0" rIns="0" bIns="0" rtlCol="0" anchor="t">
            <a:spAutoFit/>
          </a:bodyPr>
          <a:lstStyle/>
          <a:p>
            <a:pPr algn="l" indent="0" marL="0">
              <a:buNone/>
            </a:pPr>
            <a:r>
              <a:rPr lang="en-US" sz="1000" b="1" dirty="0">
                <a:solidFill>
                  <a:srgbClr val="F8FAFC"/>
                </a:solidFill>
                <a:latin typeface="Arial" pitchFamily="34" charset="0"/>
                <a:ea typeface="Arial" pitchFamily="34" charset="-122"/>
                <a:cs typeface="Arial" pitchFamily="34" charset="-120"/>
              </a:rPr>
              <a:t>Distributed intent</a:t>
            </a:r>
            <a:endParaRPr lang="en-US" sz="1000" dirty="0"/>
          </a:p>
        </p:txBody>
      </p:sp>
      <p:sp>
        <p:nvSpPr>
          <p:cNvPr id="12" name="Text 8"/>
          <p:cNvSpPr/>
          <p:nvPr/>
        </p:nvSpPr>
        <p:spPr>
          <a:xfrm>
            <a:off x="3333731" y="3306663"/>
            <a:ext cx="2476481" cy="509997"/>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B5C4D6"/>
                </a:solidFill>
                <a:latin typeface="Arial" pitchFamily="34" charset="0"/>
                <a:ea typeface="Arial" pitchFamily="34" charset="-122"/>
                <a:cs typeface="Arial" pitchFamily="34" charset="-120"/>
              </a:rPr>
              <a:t>Program behavior is spread across procedures, data definitions, and implicit control flow.</a:t>
            </a:r>
            <a:endParaRPr lang="en-US" sz="900" dirty="0"/>
          </a:p>
        </p:txBody>
      </p:sp>
      <p:sp>
        <p:nvSpPr>
          <p:cNvPr id="13" name="Text 9"/>
          <p:cNvSpPr/>
          <p:nvPr/>
        </p:nvSpPr>
        <p:spPr>
          <a:xfrm>
            <a:off x="6081675" y="2599432"/>
            <a:ext cx="2476481" cy="375047"/>
          </a:xfrm>
          <a:prstGeom prst="rect">
            <a:avLst/>
          </a:prstGeom>
          <a:noFill/>
          <a:ln/>
        </p:spPr>
        <p:txBody>
          <a:bodyPr wrap="square" lIns="0" tIns="0" rIns="0" bIns="0" rtlCol="0" anchor="t">
            <a:spAutoFit/>
          </a:bodyPr>
          <a:lstStyle/>
          <a:p>
            <a:pPr algn="l" indent="0" marL="0">
              <a:buNone/>
            </a:pPr>
            <a:r>
              <a:rPr lang="en-US" sz="2350" b="1" dirty="0">
                <a:solidFill>
                  <a:srgbClr val="DCE7F2"/>
                </a:solidFill>
                <a:latin typeface="Arial" pitchFamily="34" charset="0"/>
                <a:ea typeface="Arial" pitchFamily="34" charset="-122"/>
                <a:cs typeface="Arial" pitchFamily="34" charset="-120"/>
              </a:rPr>
              <a:t>03</a:t>
            </a:r>
            <a:endParaRPr lang="en-US" sz="2350" dirty="0"/>
          </a:p>
        </p:txBody>
      </p:sp>
      <p:sp>
        <p:nvSpPr>
          <p:cNvPr id="14" name="Text 10"/>
          <p:cNvSpPr/>
          <p:nvPr/>
        </p:nvSpPr>
        <p:spPr>
          <a:xfrm>
            <a:off x="6081675" y="3074491"/>
            <a:ext cx="2476481" cy="160734"/>
          </a:xfrm>
          <a:prstGeom prst="rect">
            <a:avLst/>
          </a:prstGeom>
          <a:noFill/>
          <a:ln/>
        </p:spPr>
        <p:txBody>
          <a:bodyPr wrap="square" lIns="0" tIns="0" rIns="0" bIns="0" rtlCol="0" anchor="t">
            <a:spAutoFit/>
          </a:bodyPr>
          <a:lstStyle/>
          <a:p>
            <a:pPr algn="l" indent="0" marL="0">
              <a:buNone/>
            </a:pPr>
            <a:r>
              <a:rPr lang="en-US" sz="1000" b="1" dirty="0">
                <a:solidFill>
                  <a:srgbClr val="F8FAFC"/>
                </a:solidFill>
                <a:latin typeface="Arial" pitchFamily="34" charset="0"/>
                <a:ea typeface="Arial" pitchFamily="34" charset="-122"/>
                <a:cs typeface="Arial" pitchFamily="34" charset="-120"/>
              </a:rPr>
              <a:t>Scarce expertise</a:t>
            </a:r>
            <a:endParaRPr lang="en-US" sz="1000" dirty="0"/>
          </a:p>
        </p:txBody>
      </p:sp>
      <p:sp>
        <p:nvSpPr>
          <p:cNvPr id="15" name="Text 11"/>
          <p:cNvSpPr/>
          <p:nvPr/>
        </p:nvSpPr>
        <p:spPr>
          <a:xfrm>
            <a:off x="6081675" y="3306663"/>
            <a:ext cx="2476481" cy="339998"/>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B5C4D6"/>
                </a:solidFill>
                <a:latin typeface="Arial" pitchFamily="34" charset="0"/>
                <a:ea typeface="Arial" pitchFamily="34" charset="-122"/>
                <a:cs typeface="Arial" pitchFamily="34" charset="-120"/>
              </a:rPr>
              <a:t>Manual understanding is slow and depends on specialized legacy-system knowledge.</a:t>
            </a:r>
            <a:endParaRPr lang="en-US" sz="900" dirty="0"/>
          </a:p>
        </p:txBody>
      </p:sp>
      <p:sp>
        <p:nvSpPr>
          <p:cNvPr id="16" name="Text 12"/>
          <p:cNvSpPr/>
          <p:nvPr/>
        </p:nvSpPr>
        <p:spPr>
          <a:xfrm>
            <a:off x="585788" y="4016685"/>
            <a:ext cx="7972425" cy="192881"/>
          </a:xfrm>
          <a:prstGeom prst="rect">
            <a:avLst/>
          </a:prstGeom>
          <a:noFill/>
          <a:ln/>
        </p:spPr>
        <p:txBody>
          <a:bodyPr wrap="square" lIns="0" tIns="0" rIns="0" bIns="0" rtlCol="0" anchor="t">
            <a:spAutoFit/>
          </a:bodyPr>
          <a:lstStyle/>
          <a:p>
            <a:pPr algn="l" indent="0" marL="0">
              <a:buNone/>
            </a:pPr>
            <a:r>
              <a:rPr lang="en-US" sz="1150" b="1" dirty="0">
                <a:solidFill>
                  <a:srgbClr val="F3B562"/>
                </a:solidFill>
                <a:latin typeface="Arial" pitchFamily="34" charset="0"/>
                <a:ea typeface="Arial" pitchFamily="34" charset="-122"/>
                <a:cs typeface="Arial" pitchFamily="34" charset="-120"/>
              </a:rPr>
              <a:t>Modernization needs recovered knowledge, not syntax translation alone.</a:t>
            </a:r>
            <a:endParaRPr lang="en-US" sz="1150" dirty="0"/>
          </a:p>
        </p:txBody>
      </p:sp>
      <p:sp>
        <p:nvSpPr>
          <p:cNvPr id="17" name="Text 13"/>
          <p:cNvSpPr/>
          <p:nvPr/>
        </p:nvSpPr>
        <p:spPr>
          <a:xfrm>
            <a:off x="585788" y="4338154"/>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18" name="Text 14"/>
          <p:cNvSpPr/>
          <p:nvPr/>
        </p:nvSpPr>
        <p:spPr>
          <a:xfrm>
            <a:off x="8440620" y="4338154"/>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02</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14350" y="514350"/>
            <a:ext cx="8115300"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02 / OBJECTIVE</a:t>
            </a:r>
            <a:endParaRPr lang="en-US" sz="700" dirty="0"/>
          </a:p>
        </p:txBody>
      </p:sp>
      <p:sp>
        <p:nvSpPr>
          <p:cNvPr id="5" name="Text 1"/>
          <p:cNvSpPr/>
          <p:nvPr/>
        </p:nvSpPr>
        <p:spPr>
          <a:xfrm>
            <a:off x="514350" y="757238"/>
            <a:ext cx="8115300" cy="691493"/>
          </a:xfrm>
          <a:prstGeom prst="rect">
            <a:avLst/>
          </a:prstGeom>
          <a:noFill/>
          <a:ln/>
        </p:spPr>
        <p:txBody>
          <a:bodyPr wrap="square" lIns="0" tIns="0" rIns="0" bIns="0" rtlCol="0" anchor="t">
            <a:spAutoFit/>
          </a:bodyPr>
          <a:lstStyle/>
          <a:p>
            <a:pPr algn="l" indent="0" marL="0">
              <a:lnSpc>
                <a:spcPct val="88000"/>
              </a:lnSpc>
              <a:buNone/>
            </a:pPr>
            <a:r>
              <a:rPr lang="en-US" sz="2350" dirty="0">
                <a:solidFill>
                  <a:srgbClr val="F8FAFC"/>
                </a:solidFill>
                <a:latin typeface="Arial" pitchFamily="34" charset="0"/>
                <a:ea typeface="Arial" pitchFamily="34" charset="-122"/>
                <a:cs typeface="Arial" pitchFamily="34" charset="-120"/>
              </a:rPr>
              <a:t>The prototype turns source code into structured knowledge</a:t>
            </a:r>
            <a:endParaRPr lang="en-US" sz="2350" dirty="0"/>
          </a:p>
        </p:txBody>
      </p:sp>
      <p:sp>
        <p:nvSpPr>
          <p:cNvPr id="6" name="Text 2"/>
          <p:cNvSpPr/>
          <p:nvPr/>
        </p:nvSpPr>
        <p:spPr>
          <a:xfrm>
            <a:off x="514350" y="1805918"/>
            <a:ext cx="3857625" cy="114300"/>
          </a:xfrm>
          <a:prstGeom prst="rect">
            <a:avLst/>
          </a:prstGeom>
          <a:noFill/>
          <a:ln/>
        </p:spPr>
        <p:txBody>
          <a:bodyPr wrap="square" lIns="0" tIns="0" rIns="0" bIns="0" rtlCol="0" anchor="t">
            <a:spAutoFit/>
          </a:bodyPr>
          <a:lstStyle/>
          <a:p>
            <a:pPr algn="l" indent="0" marL="0">
              <a:buNone/>
            </a:pPr>
            <a:r>
              <a:rPr lang="en-US" sz="700" b="1" spc="2" kern="0" dirty="0">
                <a:solidFill>
                  <a:srgbClr val="F3B562"/>
                </a:solidFill>
                <a:latin typeface="Arial" pitchFamily="34" charset="0"/>
                <a:ea typeface="Arial" pitchFamily="34" charset="-122"/>
                <a:cs typeface="Arial" pitchFamily="34" charset="-120"/>
              </a:rPr>
              <a:t>OBJECTIVE</a:t>
            </a:r>
            <a:endParaRPr lang="en-US" sz="700" dirty="0"/>
          </a:p>
        </p:txBody>
      </p:sp>
      <p:sp>
        <p:nvSpPr>
          <p:cNvPr id="7" name="Text 3"/>
          <p:cNvSpPr/>
          <p:nvPr/>
        </p:nvSpPr>
        <p:spPr>
          <a:xfrm>
            <a:off x="514350" y="2020230"/>
            <a:ext cx="3571875" cy="810369"/>
          </a:xfrm>
          <a:prstGeom prst="rect">
            <a:avLst/>
          </a:prstGeom>
          <a:noFill/>
          <a:ln/>
        </p:spPr>
        <p:txBody>
          <a:bodyPr wrap="square" lIns="0" tIns="0" rIns="0" bIns="0" rtlCol="0" anchor="t">
            <a:spAutoFit/>
          </a:bodyPr>
          <a:lstStyle/>
          <a:p>
            <a:pPr algn="l" indent="0" marL="0">
              <a:lnSpc>
                <a:spcPct val="97600"/>
              </a:lnSpc>
              <a:buNone/>
            </a:pPr>
            <a:r>
              <a:rPr lang="en-US" sz="1650" dirty="0">
                <a:solidFill>
                  <a:srgbClr val="F8FAFC"/>
                </a:solidFill>
                <a:latin typeface="Arial" pitchFamily="34" charset="0"/>
                <a:ea typeface="Arial" pitchFamily="34" charset="-122"/>
                <a:cs typeface="Arial" pitchFamily="34" charset="-120"/>
              </a:rPr>
              <a:t>Convert COBOL source into a KDM-oriented representation through a multi-agent analysis pipeline.</a:t>
            </a:r>
            <a:endParaRPr lang="en-US" sz="1650" dirty="0"/>
          </a:p>
        </p:txBody>
      </p:sp>
      <p:sp>
        <p:nvSpPr>
          <p:cNvPr id="8" name="Text 4"/>
          <p:cNvSpPr/>
          <p:nvPr/>
        </p:nvSpPr>
        <p:spPr>
          <a:xfrm>
            <a:off x="514350" y="2973474"/>
            <a:ext cx="3429000" cy="559222"/>
          </a:xfrm>
          <a:prstGeom prst="rect">
            <a:avLst/>
          </a:prstGeom>
          <a:noFill/>
          <a:ln/>
        </p:spPr>
        <p:txBody>
          <a:bodyPr wrap="square" lIns="0" tIns="0" rIns="0" bIns="0" rtlCol="0" anchor="t">
            <a:spAutoFit/>
          </a:bodyPr>
          <a:lstStyle/>
          <a:p>
            <a:pPr algn="l" indent="0" marL="0">
              <a:lnSpc>
                <a:spcPct val="116000"/>
              </a:lnSpc>
              <a:buNone/>
            </a:pPr>
            <a:r>
              <a:rPr lang="en-US" sz="950" dirty="0">
                <a:solidFill>
                  <a:srgbClr val="B5C4D6"/>
                </a:solidFill>
                <a:latin typeface="Arial" pitchFamily="34" charset="0"/>
                <a:ea typeface="Arial" pitchFamily="34" charset="-122"/>
                <a:cs typeface="Arial" pitchFamily="34" charset="-120"/>
              </a:rPr>
              <a:t>The target is not another text dump. It is an analyzable model of what the program contains, touches, calls, and means.</a:t>
            </a:r>
            <a:endParaRPr lang="en-US" sz="950" dirty="0"/>
          </a:p>
        </p:txBody>
      </p:sp>
      <p:sp>
        <p:nvSpPr>
          <p:cNvPr id="9" name="Text 5"/>
          <p:cNvSpPr/>
          <p:nvPr/>
        </p:nvSpPr>
        <p:spPr>
          <a:xfrm>
            <a:off x="4950619" y="1805918"/>
            <a:ext cx="3679031" cy="114300"/>
          </a:xfrm>
          <a:prstGeom prst="rect">
            <a:avLst/>
          </a:prstGeom>
          <a:noFill/>
          <a:ln/>
        </p:spPr>
        <p:txBody>
          <a:bodyPr wrap="square" lIns="0" tIns="0" rIns="0" bIns="0" rtlCol="0" anchor="t">
            <a:spAutoFit/>
          </a:bodyPr>
          <a:lstStyle/>
          <a:p>
            <a:pPr algn="l" indent="0" marL="0">
              <a:buNone/>
            </a:pPr>
            <a:r>
              <a:rPr lang="en-US" sz="750" spc="1" kern="0" dirty="0">
                <a:solidFill>
                  <a:srgbClr val="8AA4C2"/>
                </a:solidFill>
                <a:latin typeface="Arial" pitchFamily="34" charset="0"/>
                <a:ea typeface="Arial" pitchFamily="34" charset="-122"/>
                <a:cs typeface="Arial" pitchFamily="34" charset="-120"/>
              </a:rPr>
              <a:t>STRUCTURE</a:t>
            </a:r>
            <a:endParaRPr lang="en-US" sz="750" dirty="0"/>
          </a:p>
        </p:txBody>
      </p:sp>
      <p:sp>
        <p:nvSpPr>
          <p:cNvPr id="10" name="Text 6"/>
          <p:cNvSpPr/>
          <p:nvPr/>
        </p:nvSpPr>
        <p:spPr>
          <a:xfrm>
            <a:off x="4950619" y="1970224"/>
            <a:ext cx="2859007" cy="157163"/>
          </a:xfrm>
          <a:prstGeom prst="rect">
            <a:avLst/>
          </a:prstGeom>
          <a:noFill/>
          <a:ln/>
        </p:spPr>
        <p:txBody>
          <a:bodyPr wrap="square" lIns="0" tIns="0" rIns="0" bIns="0" rtlCol="0" anchor="t">
            <a:spAutoFit/>
          </a:bodyPr>
          <a:lstStyle/>
          <a:p>
            <a:pPr algn="l" indent="0" marL="0">
              <a:buNone/>
            </a:pPr>
            <a:r>
              <a:rPr lang="en-US" sz="1050" dirty="0">
                <a:solidFill>
                  <a:srgbClr val="F8FAFC"/>
                </a:solidFill>
                <a:latin typeface="Arial" pitchFamily="34" charset="0"/>
                <a:ea typeface="Arial" pitchFamily="34" charset="-122"/>
                <a:cs typeface="Arial" pitchFamily="34" charset="-120"/>
              </a:rPr>
              <a:t>Programs, paragraphs, data items, and types</a:t>
            </a:r>
            <a:endParaRPr lang="en-US" sz="1050" dirty="0"/>
          </a:p>
        </p:txBody>
      </p:sp>
      <p:sp>
        <p:nvSpPr>
          <p:cNvPr id="11" name="Text 7"/>
          <p:cNvSpPr/>
          <p:nvPr/>
        </p:nvSpPr>
        <p:spPr>
          <a:xfrm>
            <a:off x="4950619" y="2366702"/>
            <a:ext cx="3679031" cy="114300"/>
          </a:xfrm>
          <a:prstGeom prst="rect">
            <a:avLst/>
          </a:prstGeom>
          <a:noFill/>
          <a:ln/>
        </p:spPr>
        <p:txBody>
          <a:bodyPr wrap="square" lIns="0" tIns="0" rIns="0" bIns="0" rtlCol="0" anchor="t">
            <a:spAutoFit/>
          </a:bodyPr>
          <a:lstStyle/>
          <a:p>
            <a:pPr algn="l" indent="0" marL="0">
              <a:buNone/>
            </a:pPr>
            <a:r>
              <a:rPr lang="en-US" sz="750" spc="1" kern="0" dirty="0">
                <a:solidFill>
                  <a:srgbClr val="8AA4C2"/>
                </a:solidFill>
                <a:latin typeface="Arial" pitchFamily="34" charset="0"/>
                <a:ea typeface="Arial" pitchFamily="34" charset="-122"/>
                <a:cs typeface="Arial" pitchFamily="34" charset="-120"/>
              </a:rPr>
              <a:t>INTERACTIONS</a:t>
            </a:r>
            <a:endParaRPr lang="en-US" sz="750" dirty="0"/>
          </a:p>
        </p:txBody>
      </p:sp>
      <p:sp>
        <p:nvSpPr>
          <p:cNvPr id="12" name="Text 8"/>
          <p:cNvSpPr/>
          <p:nvPr/>
        </p:nvSpPr>
        <p:spPr>
          <a:xfrm>
            <a:off x="4950619" y="2531008"/>
            <a:ext cx="2414085" cy="157163"/>
          </a:xfrm>
          <a:prstGeom prst="rect">
            <a:avLst/>
          </a:prstGeom>
          <a:noFill/>
          <a:ln/>
        </p:spPr>
        <p:txBody>
          <a:bodyPr wrap="square" lIns="0" tIns="0" rIns="0" bIns="0" rtlCol="0" anchor="t">
            <a:spAutoFit/>
          </a:bodyPr>
          <a:lstStyle/>
          <a:p>
            <a:pPr algn="l" indent="0" marL="0">
              <a:buNone/>
            </a:pPr>
            <a:r>
              <a:rPr lang="en-US" sz="1050" dirty="0">
                <a:solidFill>
                  <a:srgbClr val="F8FAFC"/>
                </a:solidFill>
                <a:latin typeface="Arial" pitchFamily="34" charset="0"/>
                <a:ea typeface="Arial" pitchFamily="34" charset="-122"/>
                <a:cs typeface="Arial" pitchFamily="34" charset="-120"/>
              </a:rPr>
              <a:t>Calls, reads, writes, and computations</a:t>
            </a:r>
            <a:endParaRPr lang="en-US" sz="1050" dirty="0"/>
          </a:p>
        </p:txBody>
      </p:sp>
      <p:sp>
        <p:nvSpPr>
          <p:cNvPr id="13" name="Text 9"/>
          <p:cNvSpPr/>
          <p:nvPr/>
        </p:nvSpPr>
        <p:spPr>
          <a:xfrm>
            <a:off x="4950619" y="2927486"/>
            <a:ext cx="3679031" cy="114300"/>
          </a:xfrm>
          <a:prstGeom prst="rect">
            <a:avLst/>
          </a:prstGeom>
          <a:noFill/>
          <a:ln/>
        </p:spPr>
        <p:txBody>
          <a:bodyPr wrap="square" lIns="0" tIns="0" rIns="0" bIns="0" rtlCol="0" anchor="t">
            <a:spAutoFit/>
          </a:bodyPr>
          <a:lstStyle/>
          <a:p>
            <a:pPr algn="l" indent="0" marL="0">
              <a:buNone/>
            </a:pPr>
            <a:r>
              <a:rPr lang="en-US" sz="750" spc="1" kern="0" dirty="0">
                <a:solidFill>
                  <a:srgbClr val="8AA4C2"/>
                </a:solidFill>
                <a:latin typeface="Arial" pitchFamily="34" charset="0"/>
                <a:ea typeface="Arial" pitchFamily="34" charset="-122"/>
                <a:cs typeface="Arial" pitchFamily="34" charset="-120"/>
              </a:rPr>
              <a:t>SEMANTICS</a:t>
            </a:r>
            <a:endParaRPr lang="en-US" sz="750" dirty="0"/>
          </a:p>
        </p:txBody>
      </p:sp>
      <p:sp>
        <p:nvSpPr>
          <p:cNvPr id="14" name="Text 10"/>
          <p:cNvSpPr/>
          <p:nvPr/>
        </p:nvSpPr>
        <p:spPr>
          <a:xfrm>
            <a:off x="4950619" y="3091793"/>
            <a:ext cx="2787625" cy="157163"/>
          </a:xfrm>
          <a:prstGeom prst="rect">
            <a:avLst/>
          </a:prstGeom>
          <a:noFill/>
          <a:ln/>
        </p:spPr>
        <p:txBody>
          <a:bodyPr wrap="square" lIns="0" tIns="0" rIns="0" bIns="0" rtlCol="0" anchor="t">
            <a:spAutoFit/>
          </a:bodyPr>
          <a:lstStyle/>
          <a:p>
            <a:pPr algn="l" indent="0" marL="0">
              <a:buNone/>
            </a:pPr>
            <a:r>
              <a:rPr lang="en-US" sz="1050" dirty="0">
                <a:solidFill>
                  <a:srgbClr val="F8FAFC"/>
                </a:solidFill>
                <a:latin typeface="Arial" pitchFamily="34" charset="0"/>
                <a:ea typeface="Arial" pitchFamily="34" charset="-122"/>
                <a:cs typeface="Arial" pitchFamily="34" charset="-120"/>
              </a:rPr>
              <a:t>Natural-language business-rule descriptions</a:t>
            </a:r>
            <a:endParaRPr lang="en-US" sz="1050" dirty="0"/>
          </a:p>
        </p:txBody>
      </p:sp>
      <p:sp>
        <p:nvSpPr>
          <p:cNvPr id="15" name="Text 11"/>
          <p:cNvSpPr/>
          <p:nvPr/>
        </p:nvSpPr>
        <p:spPr>
          <a:xfrm>
            <a:off x="4950619" y="3488271"/>
            <a:ext cx="3679031" cy="114300"/>
          </a:xfrm>
          <a:prstGeom prst="rect">
            <a:avLst/>
          </a:prstGeom>
          <a:noFill/>
          <a:ln/>
        </p:spPr>
        <p:txBody>
          <a:bodyPr wrap="square" lIns="0" tIns="0" rIns="0" bIns="0" rtlCol="0" anchor="t">
            <a:spAutoFit/>
          </a:bodyPr>
          <a:lstStyle/>
          <a:p>
            <a:pPr algn="l" indent="0" marL="0">
              <a:buNone/>
            </a:pPr>
            <a:r>
              <a:rPr lang="en-US" sz="750" spc="1" kern="0" dirty="0">
                <a:solidFill>
                  <a:srgbClr val="8AA4C2"/>
                </a:solidFill>
                <a:latin typeface="Arial" pitchFamily="34" charset="0"/>
                <a:ea typeface="Arial" pitchFamily="34" charset="-122"/>
                <a:cs typeface="Arial" pitchFamily="34" charset="-120"/>
              </a:rPr>
              <a:t>DESTINATION</a:t>
            </a:r>
            <a:endParaRPr lang="en-US" sz="750" dirty="0"/>
          </a:p>
        </p:txBody>
      </p:sp>
      <p:sp>
        <p:nvSpPr>
          <p:cNvPr id="16" name="Text 12"/>
          <p:cNvSpPr/>
          <p:nvPr/>
        </p:nvSpPr>
        <p:spPr>
          <a:xfrm>
            <a:off x="4950619" y="3652577"/>
            <a:ext cx="2805819" cy="157163"/>
          </a:xfrm>
          <a:prstGeom prst="rect">
            <a:avLst/>
          </a:prstGeom>
          <a:noFill/>
          <a:ln/>
        </p:spPr>
        <p:txBody>
          <a:bodyPr wrap="square" lIns="0" tIns="0" rIns="0" bIns="0" rtlCol="0" anchor="t">
            <a:spAutoFit/>
          </a:bodyPr>
          <a:lstStyle/>
          <a:p>
            <a:pPr algn="l" indent="0" marL="0">
              <a:buNone/>
            </a:pPr>
            <a:r>
              <a:rPr lang="en-US" sz="1050" dirty="0">
                <a:solidFill>
                  <a:srgbClr val="F8FAFC"/>
                </a:solidFill>
                <a:latin typeface="Arial" pitchFamily="34" charset="0"/>
                <a:ea typeface="Arial" pitchFamily="34" charset="-122"/>
                <a:cs typeface="Arial" pitchFamily="34" charset="-120"/>
              </a:rPr>
              <a:t>XML for downstream modernization analysis</a:t>
            </a:r>
            <a:endParaRPr lang="en-US" sz="1050" dirty="0"/>
          </a:p>
        </p:txBody>
      </p:sp>
      <p:sp>
        <p:nvSpPr>
          <p:cNvPr id="17" name="Text 13"/>
          <p:cNvSpPr/>
          <p:nvPr/>
        </p:nvSpPr>
        <p:spPr>
          <a:xfrm>
            <a:off x="514350" y="4875609"/>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18" name="Text 14"/>
          <p:cNvSpPr/>
          <p:nvPr/>
        </p:nvSpPr>
        <p:spPr>
          <a:xfrm>
            <a:off x="8512057" y="4875609"/>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03</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03 / RESEARCH DESIGN</a:t>
            </a:r>
            <a:endParaRPr lang="en-US" sz="700" dirty="0"/>
          </a:p>
        </p:txBody>
      </p:sp>
      <p:sp>
        <p:nvSpPr>
          <p:cNvPr id="5" name="Text 1"/>
          <p:cNvSpPr/>
          <p:nvPr/>
        </p:nvSpPr>
        <p:spPr>
          <a:xfrm>
            <a:off x="571500" y="650081"/>
            <a:ext cx="8001000" cy="330008"/>
          </a:xfrm>
          <a:prstGeom prst="rect">
            <a:avLst/>
          </a:prstGeom>
          <a:noFill/>
          <a:ln/>
        </p:spPr>
        <p:txBody>
          <a:bodyPr wrap="none" lIns="0" tIns="0" rIns="0" bIns="0" rtlCol="0" anchor="t">
            <a:spAutoFit/>
          </a:bodyPr>
          <a:lstStyle/>
          <a:p>
            <a:pPr algn="l" indent="0" marL="0">
              <a:lnSpc>
                <a:spcPct val="88000"/>
              </a:lnSpc>
              <a:buNone/>
            </a:pPr>
            <a:r>
              <a:rPr lang="en-US" sz="2100" b="1" dirty="0">
                <a:solidFill>
                  <a:srgbClr val="F8FAFC"/>
                </a:solidFill>
                <a:latin typeface="Arial" pitchFamily="34" charset="0"/>
                <a:ea typeface="Arial" pitchFamily="34" charset="-122"/>
                <a:cs typeface="Arial" pitchFamily="34" charset="-120"/>
              </a:rPr>
              <a:t>Specialization is the core design choice</a:t>
            </a:r>
            <a:endParaRPr lang="en-US" sz="2100" dirty="0"/>
          </a:p>
        </p:txBody>
      </p:sp>
      <p:sp>
        <p:nvSpPr>
          <p:cNvPr id="6" name="Shape 2"/>
          <p:cNvSpPr/>
          <p:nvPr/>
        </p:nvSpPr>
        <p:spPr>
          <a:xfrm>
            <a:off x="571500" y="1194402"/>
            <a:ext cx="8001000" cy="637133"/>
          </a:xfrm>
          <a:prstGeom prst="rect">
            <a:avLst/>
          </a:prstGeom>
          <a:solidFill>
            <a:srgbClr val="000000">
              <a:alpha val="0"/>
            </a:srgbClr>
          </a:solidFill>
          <a:ln/>
        </p:spPr>
      </p:sp>
      <p:sp>
        <p:nvSpPr>
          <p:cNvPr id="7" name="Shape 3"/>
          <p:cNvSpPr/>
          <p:nvPr/>
        </p:nvSpPr>
        <p:spPr>
          <a:xfrm>
            <a:off x="571500" y="1194402"/>
            <a:ext cx="8001000" cy="14288"/>
          </a:xfrm>
          <a:prstGeom prst="rect">
            <a:avLst/>
          </a:prstGeom>
          <a:solidFill>
            <a:srgbClr val="2F6D89"/>
          </a:solidFill>
          <a:ln/>
        </p:spPr>
      </p:sp>
      <p:sp>
        <p:nvSpPr>
          <p:cNvPr id="8" name="Text 4"/>
          <p:cNvSpPr/>
          <p:nvPr/>
        </p:nvSpPr>
        <p:spPr>
          <a:xfrm>
            <a:off x="571500" y="1337277"/>
            <a:ext cx="6429375" cy="479971"/>
          </a:xfrm>
          <a:prstGeom prst="rect">
            <a:avLst/>
          </a:prstGeom>
          <a:noFill/>
          <a:ln/>
        </p:spPr>
        <p:txBody>
          <a:bodyPr wrap="square" lIns="0" tIns="0" rIns="0" bIns="0" rtlCol="0" anchor="t">
            <a:spAutoFit/>
          </a:bodyPr>
          <a:lstStyle/>
          <a:p>
            <a:pPr algn="l" indent="0" marL="0">
              <a:lnSpc>
                <a:spcPct val="112000"/>
              </a:lnSpc>
              <a:buNone/>
            </a:pPr>
            <a:r>
              <a:rPr lang="en-US" sz="1250" i="1" dirty="0">
                <a:solidFill>
                  <a:srgbClr val="B5C4D6"/>
                </a:solidFill>
                <a:latin typeface="Arial" pitchFamily="34" charset="0"/>
                <a:ea typeface="Arial" pitchFamily="34" charset="-122"/>
                <a:cs typeface="Arial" pitchFamily="34" charset="-120"/>
              </a:rPr>
              <a:t>"Can specialized analysis agents improve extraction quality and explainability versus a single mapper or deterministic rules alone?"</a:t>
            </a:r>
            <a:endParaRPr lang="en-US" sz="1250" dirty="0"/>
          </a:p>
        </p:txBody>
      </p:sp>
      <p:sp>
        <p:nvSpPr>
          <p:cNvPr id="9" name="Shape 5"/>
          <p:cNvSpPr/>
          <p:nvPr/>
        </p:nvSpPr>
        <p:spPr>
          <a:xfrm>
            <a:off x="571500" y="2102997"/>
            <a:ext cx="1714500" cy="1285875"/>
          </a:xfrm>
          <a:prstGeom prst="rect">
            <a:avLst/>
          </a:prstGeom>
          <a:solidFill>
            <a:srgbClr val="0D263E"/>
          </a:solidFill>
          <a:ln w="9144">
            <a:solidFill>
              <a:srgbClr val="24425A"/>
            </a:solidFill>
            <a:prstDash val="solid"/>
          </a:ln>
        </p:spPr>
      </p:sp>
      <p:sp>
        <p:nvSpPr>
          <p:cNvPr id="10" name="Text 6"/>
          <p:cNvSpPr/>
          <p:nvPr/>
        </p:nvSpPr>
        <p:spPr>
          <a:xfrm>
            <a:off x="571500" y="2245872"/>
            <a:ext cx="1714500" cy="114300"/>
          </a:xfrm>
          <a:prstGeom prst="rect">
            <a:avLst/>
          </a:prstGeom>
          <a:noFill/>
          <a:ln/>
        </p:spPr>
        <p:txBody>
          <a:bodyPr wrap="square" lIns="0" tIns="0" rIns="0" bIns="0" rtlCol="0" anchor="t">
            <a:spAutoFit/>
          </a:bodyPr>
          <a:lstStyle/>
          <a:p>
            <a:pPr algn="ctr" indent="0" marL="0">
              <a:buNone/>
            </a:pPr>
            <a:r>
              <a:rPr lang="en-US" sz="700" b="1" spc="1" kern="0" dirty="0">
                <a:solidFill>
                  <a:srgbClr val="F3B562"/>
                </a:solidFill>
                <a:latin typeface="Arial" pitchFamily="34" charset="0"/>
                <a:ea typeface="Arial" pitchFamily="34" charset="-122"/>
                <a:cs typeface="Arial" pitchFamily="34" charset="-120"/>
              </a:rPr>
              <a:t>BASELINE 1</a:t>
            </a:r>
            <a:endParaRPr lang="en-US" sz="700" dirty="0"/>
          </a:p>
        </p:txBody>
      </p:sp>
      <p:sp>
        <p:nvSpPr>
          <p:cNvPr id="11" name="Text 7"/>
          <p:cNvSpPr/>
          <p:nvPr/>
        </p:nvSpPr>
        <p:spPr>
          <a:xfrm>
            <a:off x="571500" y="2467328"/>
            <a:ext cx="1714500" cy="300038"/>
          </a:xfrm>
          <a:prstGeom prst="rect">
            <a:avLst/>
          </a:prstGeom>
          <a:noFill/>
          <a:ln/>
        </p:spPr>
        <p:txBody>
          <a:bodyPr wrap="square" lIns="127508" tIns="0" rIns="127508" bIns="0" rtlCol="0" anchor="t">
            <a:spAutoFit/>
          </a:bodyPr>
          <a:lstStyle/>
          <a:p>
            <a:pPr algn="ctr" indent="0" marL="0">
              <a:buNone/>
            </a:pPr>
            <a:r>
              <a:rPr lang="en-US" sz="900" b="1" dirty="0">
                <a:solidFill>
                  <a:srgbClr val="F8FAFC"/>
                </a:solidFill>
                <a:latin typeface="Arial" pitchFamily="34" charset="0"/>
                <a:ea typeface="Arial" pitchFamily="34" charset="-122"/>
                <a:cs typeface="Arial" pitchFamily="34" charset="-120"/>
              </a:rPr>
              <a:t>Deterministic Extraction Only</a:t>
            </a:r>
            <a:endParaRPr lang="en-US" sz="900" dirty="0"/>
          </a:p>
        </p:txBody>
      </p:sp>
      <p:sp>
        <p:nvSpPr>
          <p:cNvPr id="12" name="Shape 8"/>
          <p:cNvSpPr/>
          <p:nvPr/>
        </p:nvSpPr>
        <p:spPr>
          <a:xfrm>
            <a:off x="2428875" y="2102997"/>
            <a:ext cx="1714500" cy="1285875"/>
          </a:xfrm>
          <a:prstGeom prst="rect">
            <a:avLst/>
          </a:prstGeom>
          <a:solidFill>
            <a:srgbClr val="0D263E"/>
          </a:solidFill>
          <a:ln w="9144">
            <a:solidFill>
              <a:srgbClr val="24425A"/>
            </a:solidFill>
            <a:prstDash val="solid"/>
          </a:ln>
        </p:spPr>
      </p:sp>
      <p:sp>
        <p:nvSpPr>
          <p:cNvPr id="13" name="Text 9"/>
          <p:cNvSpPr/>
          <p:nvPr/>
        </p:nvSpPr>
        <p:spPr>
          <a:xfrm>
            <a:off x="2428875" y="2245872"/>
            <a:ext cx="1714500" cy="114300"/>
          </a:xfrm>
          <a:prstGeom prst="rect">
            <a:avLst/>
          </a:prstGeom>
          <a:noFill/>
          <a:ln/>
        </p:spPr>
        <p:txBody>
          <a:bodyPr wrap="square" lIns="0" tIns="0" rIns="0" bIns="0" rtlCol="0" anchor="t">
            <a:spAutoFit/>
          </a:bodyPr>
          <a:lstStyle/>
          <a:p>
            <a:pPr algn="ctr" indent="0" marL="0">
              <a:buNone/>
            </a:pPr>
            <a:r>
              <a:rPr lang="en-US" sz="700" b="1" spc="1" kern="0" dirty="0">
                <a:solidFill>
                  <a:srgbClr val="F3B562"/>
                </a:solidFill>
                <a:latin typeface="Arial" pitchFamily="34" charset="0"/>
                <a:ea typeface="Arial" pitchFamily="34" charset="-122"/>
                <a:cs typeface="Arial" pitchFamily="34" charset="-120"/>
              </a:rPr>
              <a:t>BASELINE 2</a:t>
            </a:r>
            <a:endParaRPr lang="en-US" sz="700" dirty="0"/>
          </a:p>
        </p:txBody>
      </p:sp>
      <p:sp>
        <p:nvSpPr>
          <p:cNvPr id="14" name="Text 10"/>
          <p:cNvSpPr/>
          <p:nvPr/>
        </p:nvSpPr>
        <p:spPr>
          <a:xfrm>
            <a:off x="2428875" y="2467328"/>
            <a:ext cx="1714500" cy="300038"/>
          </a:xfrm>
          <a:prstGeom prst="rect">
            <a:avLst/>
          </a:prstGeom>
          <a:noFill/>
          <a:ln/>
        </p:spPr>
        <p:txBody>
          <a:bodyPr wrap="square" lIns="127508" tIns="0" rIns="127508" bIns="0" rtlCol="0" anchor="t">
            <a:spAutoFit/>
          </a:bodyPr>
          <a:lstStyle/>
          <a:p>
            <a:pPr algn="ctr" indent="0" marL="0">
              <a:buNone/>
            </a:pPr>
            <a:r>
              <a:rPr lang="en-US" sz="900" b="1" dirty="0">
                <a:solidFill>
                  <a:srgbClr val="F8FAFC"/>
                </a:solidFill>
                <a:latin typeface="Arial" pitchFamily="34" charset="0"/>
                <a:ea typeface="Arial" pitchFamily="34" charset="-122"/>
                <a:cs typeface="Arial" pitchFamily="34" charset="-120"/>
              </a:rPr>
              <a:t>General-Purpose GenAI Mapper</a:t>
            </a:r>
            <a:endParaRPr lang="en-US" sz="900" dirty="0"/>
          </a:p>
        </p:txBody>
      </p:sp>
      <p:sp>
        <p:nvSpPr>
          <p:cNvPr id="15" name="Shape 11"/>
          <p:cNvSpPr/>
          <p:nvPr/>
        </p:nvSpPr>
        <p:spPr>
          <a:xfrm>
            <a:off x="4286250" y="2102997"/>
            <a:ext cx="1714500" cy="1285875"/>
          </a:xfrm>
          <a:prstGeom prst="rect">
            <a:avLst/>
          </a:prstGeom>
          <a:solidFill>
            <a:srgbClr val="0D263E"/>
          </a:solidFill>
          <a:ln w="9144">
            <a:solidFill>
              <a:srgbClr val="24425A"/>
            </a:solidFill>
            <a:prstDash val="solid"/>
          </a:ln>
        </p:spPr>
      </p:sp>
      <p:sp>
        <p:nvSpPr>
          <p:cNvPr id="16" name="Text 12"/>
          <p:cNvSpPr/>
          <p:nvPr/>
        </p:nvSpPr>
        <p:spPr>
          <a:xfrm>
            <a:off x="4286250" y="2245872"/>
            <a:ext cx="1714500" cy="114300"/>
          </a:xfrm>
          <a:prstGeom prst="rect">
            <a:avLst/>
          </a:prstGeom>
          <a:noFill/>
          <a:ln/>
        </p:spPr>
        <p:txBody>
          <a:bodyPr wrap="square" lIns="0" tIns="0" rIns="0" bIns="0" rtlCol="0" anchor="t">
            <a:spAutoFit/>
          </a:bodyPr>
          <a:lstStyle/>
          <a:p>
            <a:pPr algn="ctr" indent="0" marL="0">
              <a:buNone/>
            </a:pPr>
            <a:r>
              <a:rPr lang="en-US" sz="700" b="1" spc="1" kern="0" dirty="0">
                <a:solidFill>
                  <a:srgbClr val="F3B562"/>
                </a:solidFill>
                <a:latin typeface="Arial" pitchFamily="34" charset="0"/>
                <a:ea typeface="Arial" pitchFamily="34" charset="-122"/>
                <a:cs typeface="Arial" pitchFamily="34" charset="-120"/>
              </a:rPr>
              <a:t>PROPOSED</a:t>
            </a:r>
            <a:endParaRPr lang="en-US" sz="700" dirty="0"/>
          </a:p>
        </p:txBody>
      </p:sp>
      <p:sp>
        <p:nvSpPr>
          <p:cNvPr id="17" name="Text 13"/>
          <p:cNvSpPr/>
          <p:nvPr/>
        </p:nvSpPr>
        <p:spPr>
          <a:xfrm>
            <a:off x="4286250" y="2467328"/>
            <a:ext cx="1714500" cy="300038"/>
          </a:xfrm>
          <a:prstGeom prst="rect">
            <a:avLst/>
          </a:prstGeom>
          <a:noFill/>
          <a:ln/>
        </p:spPr>
        <p:txBody>
          <a:bodyPr wrap="square" lIns="127508" tIns="0" rIns="127508" bIns="0" rtlCol="0" anchor="t">
            <a:spAutoFit/>
          </a:bodyPr>
          <a:lstStyle/>
          <a:p>
            <a:pPr algn="ctr" indent="0" marL="0">
              <a:buNone/>
            </a:pPr>
            <a:r>
              <a:rPr lang="en-US" sz="900" b="1" dirty="0">
                <a:solidFill>
                  <a:srgbClr val="F8FAFC"/>
                </a:solidFill>
                <a:latin typeface="Arial" pitchFamily="34" charset="0"/>
                <a:ea typeface="Arial" pitchFamily="34" charset="-122"/>
                <a:cs typeface="Arial" pitchFamily="34" charset="-120"/>
              </a:rPr>
              <a:t>Specialized Multi-Agent Pipeline</a:t>
            </a:r>
            <a:endParaRPr lang="en-US" sz="900" dirty="0"/>
          </a:p>
        </p:txBody>
      </p:sp>
      <p:sp>
        <p:nvSpPr>
          <p:cNvPr id="18" name="Text 14"/>
          <p:cNvSpPr/>
          <p:nvPr/>
        </p:nvSpPr>
        <p:spPr>
          <a:xfrm>
            <a:off x="571500" y="3603185"/>
            <a:ext cx="5429250" cy="114300"/>
          </a:xfrm>
          <a:prstGeom prst="rect">
            <a:avLst/>
          </a:prstGeom>
          <a:noFill/>
          <a:ln/>
        </p:spPr>
        <p:txBody>
          <a:bodyPr wrap="square" lIns="0" tIns="0" rIns="0" bIns="0" rtlCol="0" anchor="t">
            <a:spAutoFit/>
          </a:bodyPr>
          <a:lstStyle/>
          <a:p>
            <a:pPr algn="l" indent="0" marL="0">
              <a:buNone/>
            </a:pPr>
            <a:r>
              <a:rPr lang="en-US" sz="700" b="1" spc="1" kern="0" dirty="0">
                <a:solidFill>
                  <a:srgbClr val="63D5E8"/>
                </a:solidFill>
                <a:latin typeface="Arial" pitchFamily="34" charset="0"/>
                <a:ea typeface="Arial" pitchFamily="34" charset="-122"/>
                <a:cs typeface="Arial" pitchFamily="34" charset="-120"/>
              </a:rPr>
              <a:t>EVALUATION MEASURES</a:t>
            </a:r>
            <a:endParaRPr lang="en-US" sz="700" dirty="0"/>
          </a:p>
        </p:txBody>
      </p:sp>
      <p:sp>
        <p:nvSpPr>
          <p:cNvPr id="19" name="Shape 15"/>
          <p:cNvSpPr/>
          <p:nvPr/>
        </p:nvSpPr>
        <p:spPr>
          <a:xfrm>
            <a:off x="571500" y="3824641"/>
            <a:ext cx="995158" cy="242888"/>
          </a:xfrm>
          <a:prstGeom prst="rect">
            <a:avLst/>
          </a:prstGeom>
          <a:solidFill>
            <a:srgbClr val="1A3A5A"/>
          </a:solidFill>
          <a:ln w="9144">
            <a:solidFill>
              <a:srgbClr val="2F6D89"/>
            </a:solidFill>
            <a:prstDash val="solid"/>
          </a:ln>
        </p:spPr>
      </p:sp>
      <p:sp>
        <p:nvSpPr>
          <p:cNvPr id="20" name="Text 16"/>
          <p:cNvSpPr/>
          <p:nvPr/>
        </p:nvSpPr>
        <p:spPr>
          <a:xfrm>
            <a:off x="571500" y="3824641"/>
            <a:ext cx="995158" cy="242888"/>
          </a:xfrm>
          <a:prstGeom prst="rect">
            <a:avLst/>
          </a:prstGeom>
          <a:noFill/>
          <a:ln/>
        </p:spPr>
        <p:txBody>
          <a:bodyPr wrap="none" lIns="136017" tIns="68072" rIns="136017" bIns="68072" rtlCol="0" anchor="t">
            <a:spAutoFit/>
          </a:bodyPr>
          <a:lstStyle/>
          <a:p>
            <a:pPr algn="l" indent="0" marL="0">
              <a:buNone/>
            </a:pPr>
            <a:r>
              <a:rPr lang="en-US" sz="700" b="1" dirty="0">
                <a:solidFill>
                  <a:srgbClr val="9FE8F1"/>
                </a:solidFill>
                <a:latin typeface="Arial" pitchFamily="34" charset="0"/>
                <a:ea typeface="Arial" pitchFamily="34" charset="-122"/>
                <a:cs typeface="Arial" pitchFamily="34" charset="-120"/>
              </a:rPr>
              <a:t>Entity Accuracy</a:t>
            </a:r>
            <a:endParaRPr lang="en-US" sz="700" dirty="0"/>
          </a:p>
        </p:txBody>
      </p:sp>
      <p:sp>
        <p:nvSpPr>
          <p:cNvPr id="21" name="Shape 17"/>
          <p:cNvSpPr/>
          <p:nvPr/>
        </p:nvSpPr>
        <p:spPr>
          <a:xfrm>
            <a:off x="1659527" y="3824641"/>
            <a:ext cx="1156283" cy="242888"/>
          </a:xfrm>
          <a:prstGeom prst="rect">
            <a:avLst/>
          </a:prstGeom>
          <a:solidFill>
            <a:srgbClr val="1A3A5A"/>
          </a:solidFill>
          <a:ln w="9144">
            <a:solidFill>
              <a:srgbClr val="2F6D89"/>
            </a:solidFill>
            <a:prstDash val="solid"/>
          </a:ln>
        </p:spPr>
      </p:sp>
      <p:sp>
        <p:nvSpPr>
          <p:cNvPr id="22" name="Text 18"/>
          <p:cNvSpPr/>
          <p:nvPr/>
        </p:nvSpPr>
        <p:spPr>
          <a:xfrm>
            <a:off x="1659527" y="3824641"/>
            <a:ext cx="1156283" cy="242888"/>
          </a:xfrm>
          <a:prstGeom prst="rect">
            <a:avLst/>
          </a:prstGeom>
          <a:noFill/>
          <a:ln/>
        </p:spPr>
        <p:txBody>
          <a:bodyPr wrap="none" lIns="136017" tIns="68072" rIns="136017" bIns="68072" rtlCol="0" anchor="t">
            <a:spAutoFit/>
          </a:bodyPr>
          <a:lstStyle/>
          <a:p>
            <a:pPr algn="l" indent="0" marL="0">
              <a:buNone/>
            </a:pPr>
            <a:r>
              <a:rPr lang="en-US" sz="700" b="1" dirty="0">
                <a:solidFill>
                  <a:srgbClr val="9FE8F1"/>
                </a:solidFill>
                <a:latin typeface="Arial" pitchFamily="34" charset="0"/>
                <a:ea typeface="Arial" pitchFamily="34" charset="-122"/>
                <a:cs typeface="Arial" pitchFamily="34" charset="-120"/>
              </a:rPr>
              <a:t>Call/Flow Accuracy</a:t>
            </a:r>
            <a:endParaRPr lang="en-US" sz="700" dirty="0"/>
          </a:p>
        </p:txBody>
      </p:sp>
      <p:sp>
        <p:nvSpPr>
          <p:cNvPr id="23" name="Shape 19"/>
          <p:cNvSpPr/>
          <p:nvPr/>
        </p:nvSpPr>
        <p:spPr>
          <a:xfrm>
            <a:off x="2908678" y="3824641"/>
            <a:ext cx="1298879" cy="242888"/>
          </a:xfrm>
          <a:prstGeom prst="rect">
            <a:avLst/>
          </a:prstGeom>
          <a:solidFill>
            <a:srgbClr val="1A3A5A"/>
          </a:solidFill>
          <a:ln w="9144">
            <a:solidFill>
              <a:srgbClr val="2F6D89"/>
            </a:solidFill>
            <a:prstDash val="solid"/>
          </a:ln>
        </p:spPr>
      </p:sp>
      <p:sp>
        <p:nvSpPr>
          <p:cNvPr id="24" name="Text 20"/>
          <p:cNvSpPr/>
          <p:nvPr/>
        </p:nvSpPr>
        <p:spPr>
          <a:xfrm>
            <a:off x="2908678" y="3824641"/>
            <a:ext cx="1298879" cy="242888"/>
          </a:xfrm>
          <a:prstGeom prst="rect">
            <a:avLst/>
          </a:prstGeom>
          <a:noFill/>
          <a:ln/>
        </p:spPr>
        <p:txBody>
          <a:bodyPr wrap="square" lIns="136017" tIns="68072" rIns="136017" bIns="68072" rtlCol="0" anchor="t">
            <a:spAutoFit/>
          </a:bodyPr>
          <a:lstStyle/>
          <a:p>
            <a:pPr algn="l" indent="0" marL="0">
              <a:buNone/>
            </a:pPr>
            <a:r>
              <a:rPr lang="en-US" sz="700" b="1" dirty="0">
                <a:solidFill>
                  <a:srgbClr val="9FE8F1"/>
                </a:solidFill>
                <a:latin typeface="Arial" pitchFamily="34" charset="0"/>
                <a:ea typeface="Arial" pitchFamily="34" charset="-122"/>
                <a:cs typeface="Arial" pitchFamily="34" charset="-120"/>
              </a:rPr>
              <a:t>Business Rule Quality</a:t>
            </a:r>
            <a:endParaRPr lang="en-US" sz="700" dirty="0"/>
          </a:p>
        </p:txBody>
      </p:sp>
      <p:sp>
        <p:nvSpPr>
          <p:cNvPr id="25" name="Shape 21"/>
          <p:cNvSpPr/>
          <p:nvPr/>
        </p:nvSpPr>
        <p:spPr>
          <a:xfrm>
            <a:off x="4300426" y="3824641"/>
            <a:ext cx="1093217" cy="242888"/>
          </a:xfrm>
          <a:prstGeom prst="rect">
            <a:avLst/>
          </a:prstGeom>
          <a:solidFill>
            <a:srgbClr val="1A3A5A"/>
          </a:solidFill>
          <a:ln w="9144">
            <a:solidFill>
              <a:srgbClr val="2F6D89"/>
            </a:solidFill>
            <a:prstDash val="solid"/>
          </a:ln>
        </p:spPr>
      </p:sp>
      <p:sp>
        <p:nvSpPr>
          <p:cNvPr id="26" name="Text 22"/>
          <p:cNvSpPr/>
          <p:nvPr/>
        </p:nvSpPr>
        <p:spPr>
          <a:xfrm>
            <a:off x="4300426" y="3824641"/>
            <a:ext cx="1093217" cy="242888"/>
          </a:xfrm>
          <a:prstGeom prst="rect">
            <a:avLst/>
          </a:prstGeom>
          <a:noFill/>
          <a:ln/>
        </p:spPr>
        <p:txBody>
          <a:bodyPr wrap="none" lIns="136017" tIns="68072" rIns="136017" bIns="68072" rtlCol="0" anchor="t">
            <a:spAutoFit/>
          </a:bodyPr>
          <a:lstStyle/>
          <a:p>
            <a:pPr algn="l" indent="0" marL="0">
              <a:buNone/>
            </a:pPr>
            <a:r>
              <a:rPr lang="en-US" sz="700" b="1" dirty="0">
                <a:solidFill>
                  <a:srgbClr val="9FE8F1"/>
                </a:solidFill>
                <a:latin typeface="Arial" pitchFamily="34" charset="0"/>
                <a:ea typeface="Arial" pitchFamily="34" charset="-122"/>
                <a:cs typeface="Arial" pitchFamily="34" charset="-120"/>
              </a:rPr>
              <a:t>KDM Validity Rate</a:t>
            </a:r>
            <a:endParaRPr lang="en-US" sz="700" dirty="0"/>
          </a:p>
        </p:txBody>
      </p:sp>
      <p:sp>
        <p:nvSpPr>
          <p:cNvPr id="27" name="Shape 23"/>
          <p:cNvSpPr/>
          <p:nvPr/>
        </p:nvSpPr>
        <p:spPr>
          <a:xfrm>
            <a:off x="571500" y="4160397"/>
            <a:ext cx="1165436" cy="242888"/>
          </a:xfrm>
          <a:prstGeom prst="rect">
            <a:avLst/>
          </a:prstGeom>
          <a:solidFill>
            <a:srgbClr val="1A3A5A"/>
          </a:solidFill>
          <a:ln w="9144">
            <a:solidFill>
              <a:srgbClr val="2F6D89"/>
            </a:solidFill>
            <a:prstDash val="solid"/>
          </a:ln>
        </p:spPr>
      </p:sp>
      <p:sp>
        <p:nvSpPr>
          <p:cNvPr id="28" name="Text 24"/>
          <p:cNvSpPr/>
          <p:nvPr/>
        </p:nvSpPr>
        <p:spPr>
          <a:xfrm>
            <a:off x="571500" y="4160397"/>
            <a:ext cx="1165436" cy="242888"/>
          </a:xfrm>
          <a:prstGeom prst="rect">
            <a:avLst/>
          </a:prstGeom>
          <a:noFill/>
          <a:ln/>
        </p:spPr>
        <p:txBody>
          <a:bodyPr wrap="none" lIns="136017" tIns="68072" rIns="136017" bIns="68072" rtlCol="0" anchor="t">
            <a:spAutoFit/>
          </a:bodyPr>
          <a:lstStyle/>
          <a:p>
            <a:pPr algn="l" indent="0" marL="0">
              <a:buNone/>
            </a:pPr>
            <a:r>
              <a:rPr lang="en-US" sz="700" b="1" dirty="0">
                <a:solidFill>
                  <a:srgbClr val="9FE8F1"/>
                </a:solidFill>
                <a:latin typeface="Arial" pitchFamily="34" charset="0"/>
                <a:ea typeface="Arial" pitchFamily="34" charset="-122"/>
                <a:cs typeface="Arial" pitchFamily="34" charset="-120"/>
              </a:rPr>
              <a:t>API Cost &amp; Latency</a:t>
            </a:r>
            <a:endParaRPr lang="en-US" sz="700" dirty="0"/>
          </a:p>
        </p:txBody>
      </p:sp>
      <p:sp>
        <p:nvSpPr>
          <p:cNvPr id="29" name="Shape 25"/>
          <p:cNvSpPr/>
          <p:nvPr/>
        </p:nvSpPr>
        <p:spPr>
          <a:xfrm>
            <a:off x="1829805" y="4160397"/>
            <a:ext cx="1115374" cy="242888"/>
          </a:xfrm>
          <a:prstGeom prst="rect">
            <a:avLst/>
          </a:prstGeom>
          <a:solidFill>
            <a:srgbClr val="1A3A5A"/>
          </a:solidFill>
          <a:ln w="9144">
            <a:solidFill>
              <a:srgbClr val="2F6D89"/>
            </a:solidFill>
            <a:prstDash val="solid"/>
          </a:ln>
        </p:spPr>
      </p:sp>
      <p:sp>
        <p:nvSpPr>
          <p:cNvPr id="30" name="Text 26"/>
          <p:cNvSpPr/>
          <p:nvPr/>
        </p:nvSpPr>
        <p:spPr>
          <a:xfrm>
            <a:off x="1829805" y="4160397"/>
            <a:ext cx="1115374" cy="242888"/>
          </a:xfrm>
          <a:prstGeom prst="rect">
            <a:avLst/>
          </a:prstGeom>
          <a:noFill/>
          <a:ln/>
        </p:spPr>
        <p:txBody>
          <a:bodyPr wrap="none" lIns="136017" tIns="68072" rIns="136017" bIns="68072" rtlCol="0" anchor="t">
            <a:spAutoFit/>
          </a:bodyPr>
          <a:lstStyle/>
          <a:p>
            <a:pPr algn="l" indent="0" marL="0">
              <a:buNone/>
            </a:pPr>
            <a:r>
              <a:rPr lang="en-US" sz="700" b="1" dirty="0">
                <a:solidFill>
                  <a:srgbClr val="9FE8F1"/>
                </a:solidFill>
                <a:latin typeface="Arial" pitchFamily="34" charset="0"/>
                <a:ea typeface="Arial" pitchFamily="34" charset="-122"/>
                <a:cs typeface="Arial" pitchFamily="34" charset="-120"/>
              </a:rPr>
              <a:t>Hallucination Rate</a:t>
            </a:r>
            <a:endParaRPr lang="en-US" sz="700" dirty="0"/>
          </a:p>
        </p:txBody>
      </p:sp>
      <p:sp>
        <p:nvSpPr>
          <p:cNvPr id="31" name="Shape 27"/>
          <p:cNvSpPr/>
          <p:nvPr/>
        </p:nvSpPr>
        <p:spPr>
          <a:xfrm>
            <a:off x="6286500" y="2102997"/>
            <a:ext cx="2286000" cy="2714625"/>
          </a:xfrm>
          <a:prstGeom prst="rect">
            <a:avLst/>
          </a:prstGeom>
          <a:solidFill>
            <a:srgbClr val="0D263E"/>
          </a:solidFill>
          <a:ln w="9144">
            <a:solidFill>
              <a:srgbClr val="24425A"/>
            </a:solidFill>
            <a:prstDash val="solid"/>
          </a:ln>
        </p:spPr>
      </p:sp>
      <p:pic>
        <p:nvPicPr>
          <p:cNvPr id="32" name="Image 1" descr="preencoded.png">    </p:cNvPr>
          <p:cNvPicPr>
            <a:picLocks noChangeAspect="1"/>
          </p:cNvPicPr>
          <p:nvPr/>
        </p:nvPicPr>
        <p:blipFill>
          <a:blip r:embed="rId2"/>
          <a:stretch>
            <a:fillRect/>
          </a:stretch>
        </p:blipFill>
        <p:spPr>
          <a:xfrm>
            <a:off x="6357938" y="2174435"/>
            <a:ext cx="2143125" cy="2571750"/>
          </a:xfrm>
          <a:prstGeom prst="rect">
            <a:avLst/>
          </a:prstGeom>
        </p:spPr>
      </p:pic>
      <p:sp>
        <p:nvSpPr>
          <p:cNvPr id="33" name="Text 28"/>
          <p:cNvSpPr/>
          <p:nvPr/>
        </p:nvSpPr>
        <p:spPr>
          <a:xfrm>
            <a:off x="571500" y="4832747"/>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34" name="Text 29"/>
          <p:cNvSpPr/>
          <p:nvPr/>
        </p:nvSpPr>
        <p:spPr>
          <a:xfrm>
            <a:off x="8454907" y="4832747"/>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04</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04 / ARCHITECTURE</a:t>
            </a:r>
            <a:endParaRPr lang="en-US" sz="700" dirty="0"/>
          </a:p>
        </p:txBody>
      </p:sp>
      <p:sp>
        <p:nvSpPr>
          <p:cNvPr id="5" name="Text 1"/>
          <p:cNvSpPr/>
          <p:nvPr/>
        </p:nvSpPr>
        <p:spPr>
          <a:xfrm>
            <a:off x="571500" y="650081"/>
            <a:ext cx="6429375" cy="660016"/>
          </a:xfrm>
          <a:prstGeom prst="rect">
            <a:avLst/>
          </a:prstGeom>
          <a:noFill/>
          <a:ln/>
        </p:spPr>
        <p:txBody>
          <a:bodyPr wrap="square" lIns="0" tIns="0" rIns="0" bIns="0" rtlCol="0" anchor="t">
            <a:spAutoFit/>
          </a:bodyPr>
          <a:lstStyle/>
          <a:p>
            <a:pPr algn="l" indent="0" marL="0">
              <a:lnSpc>
                <a:spcPct val="88000"/>
              </a:lnSpc>
              <a:buNone/>
            </a:pPr>
            <a:r>
              <a:rPr lang="en-US" sz="2100" b="1" dirty="0">
                <a:solidFill>
                  <a:srgbClr val="F8FAFC"/>
                </a:solidFill>
                <a:latin typeface="Arial" pitchFamily="34" charset="0"/>
                <a:ea typeface="Arial" pitchFamily="34" charset="-122"/>
                <a:cs typeface="Arial" pitchFamily="34" charset="-120"/>
              </a:rPr>
              <a:t>The pipeline separates evidence, interpretation, and validation</a:t>
            </a:r>
            <a:endParaRPr lang="en-US" sz="2100" dirty="0"/>
          </a:p>
        </p:txBody>
      </p:sp>
      <p:sp>
        <p:nvSpPr>
          <p:cNvPr id="6" name="Shape 2"/>
          <p:cNvSpPr/>
          <p:nvPr/>
        </p:nvSpPr>
        <p:spPr>
          <a:xfrm>
            <a:off x="571500" y="2095909"/>
            <a:ext cx="1143000" cy="714375"/>
          </a:xfrm>
          <a:prstGeom prst="rect">
            <a:avLst/>
          </a:prstGeom>
          <a:solidFill>
            <a:srgbClr val="0D263E"/>
          </a:solidFill>
          <a:ln w="9144">
            <a:solidFill>
              <a:srgbClr val="2F6D89"/>
            </a:solidFill>
            <a:prstDash val="solid"/>
          </a:ln>
        </p:spPr>
      </p:sp>
      <p:sp>
        <p:nvSpPr>
          <p:cNvPr id="7" name="Text 3"/>
          <p:cNvSpPr/>
          <p:nvPr/>
        </p:nvSpPr>
        <p:spPr>
          <a:xfrm>
            <a:off x="685800" y="2217353"/>
            <a:ext cx="914400" cy="114300"/>
          </a:xfrm>
          <a:prstGeom prst="rect">
            <a:avLst/>
          </a:prstGeom>
          <a:noFill/>
          <a:ln/>
        </p:spPr>
        <p:txBody>
          <a:bodyPr wrap="none" lIns="0" tIns="0" rIns="0" bIns="0" rtlCol="0" anchor="t">
            <a:spAutoFit/>
          </a:bodyPr>
          <a:lstStyle/>
          <a:p>
            <a:pPr algn="ctr" indent="0" marL="0">
              <a:buNone/>
            </a:pPr>
            <a:r>
              <a:rPr lang="en-US" sz="700" b="1" spc="1" kern="0" dirty="0">
                <a:solidFill>
                  <a:srgbClr val="8AA4C2"/>
                </a:solidFill>
                <a:latin typeface="Arial" pitchFamily="34" charset="0"/>
                <a:ea typeface="Arial" pitchFamily="34" charset="-122"/>
                <a:cs typeface="Arial" pitchFamily="34" charset="-120"/>
              </a:rPr>
              <a:t>INPUT</a:t>
            </a:r>
            <a:endParaRPr lang="en-US" sz="700" dirty="0"/>
          </a:p>
        </p:txBody>
      </p:sp>
      <p:sp>
        <p:nvSpPr>
          <p:cNvPr id="8" name="Text 4"/>
          <p:cNvSpPr/>
          <p:nvPr/>
        </p:nvSpPr>
        <p:spPr>
          <a:xfrm>
            <a:off x="685800" y="2388803"/>
            <a:ext cx="914400" cy="300038"/>
          </a:xfrm>
          <a:prstGeom prst="rect">
            <a:avLst/>
          </a:prstGeom>
          <a:noFill/>
          <a:ln/>
        </p:spPr>
        <p:txBody>
          <a:bodyPr wrap="none" lIns="0" tIns="0" rIns="0" bIns="0" rtlCol="0" anchor="t">
            <a:spAutoFit/>
          </a:bodyPr>
          <a:lstStyle/>
          <a:p>
            <a:pPr algn="ctr" indent="0" marL="0">
              <a:buNone/>
            </a:pPr>
            <a:r>
              <a:rPr lang="en-US" sz="900" b="1" dirty="0">
                <a:solidFill>
                  <a:srgbClr val="F8FAFC"/>
                </a:solidFill>
                <a:latin typeface="Arial" pitchFamily="34" charset="0"/>
                <a:ea typeface="Arial" pitchFamily="34" charset="-122"/>
                <a:cs typeface="Arial" pitchFamily="34" charset="-120"/>
              </a:rPr>
              <a:t>COBOL Source</a:t>
            </a:r>
            <a:endParaRPr lang="en-US" sz="900" dirty="0"/>
          </a:p>
        </p:txBody>
      </p:sp>
      <p:sp>
        <p:nvSpPr>
          <p:cNvPr id="9" name="Shape 5"/>
          <p:cNvSpPr/>
          <p:nvPr/>
        </p:nvSpPr>
        <p:spPr>
          <a:xfrm>
            <a:off x="1714500" y="2170919"/>
            <a:ext cx="1143000" cy="564356"/>
          </a:xfrm>
          <a:prstGeom prst="rect">
            <a:avLst/>
          </a:prstGeom>
          <a:solidFill>
            <a:srgbClr val="0D263E"/>
          </a:solidFill>
          <a:ln w="9144">
            <a:solidFill>
              <a:srgbClr val="63D5E8"/>
            </a:solidFill>
            <a:prstDash val="solid"/>
          </a:ln>
        </p:spPr>
      </p:sp>
      <p:sp>
        <p:nvSpPr>
          <p:cNvPr id="10" name="Text 6"/>
          <p:cNvSpPr/>
          <p:nvPr/>
        </p:nvSpPr>
        <p:spPr>
          <a:xfrm>
            <a:off x="1828800" y="2292362"/>
            <a:ext cx="914400" cy="114300"/>
          </a:xfrm>
          <a:prstGeom prst="rect">
            <a:avLst/>
          </a:prstGeom>
          <a:noFill/>
          <a:ln/>
        </p:spPr>
        <p:txBody>
          <a:bodyPr wrap="none" lIns="0" tIns="0" rIns="0" bIns="0" rtlCol="0" anchor="t">
            <a:spAutoFit/>
          </a:bodyPr>
          <a:lstStyle/>
          <a:p>
            <a:pPr algn="ctr" indent="0" marL="0">
              <a:buNone/>
            </a:pPr>
            <a:r>
              <a:rPr lang="en-US" sz="700" b="1" spc="1" kern="0" dirty="0">
                <a:solidFill>
                  <a:srgbClr val="8AA4C2"/>
                </a:solidFill>
                <a:latin typeface="Arial" pitchFamily="34" charset="0"/>
                <a:ea typeface="Arial" pitchFamily="34" charset="-122"/>
                <a:cs typeface="Arial" pitchFamily="34" charset="-120"/>
              </a:rPr>
              <a:t>STAGE 1</a:t>
            </a:r>
            <a:endParaRPr lang="en-US" sz="700" dirty="0"/>
          </a:p>
        </p:txBody>
      </p:sp>
      <p:sp>
        <p:nvSpPr>
          <p:cNvPr id="11" name="Text 7"/>
          <p:cNvSpPr/>
          <p:nvPr/>
        </p:nvSpPr>
        <p:spPr>
          <a:xfrm>
            <a:off x="1828800" y="2463812"/>
            <a:ext cx="914400" cy="150019"/>
          </a:xfrm>
          <a:prstGeom prst="rect">
            <a:avLst/>
          </a:prstGeom>
          <a:noFill/>
          <a:ln/>
        </p:spPr>
        <p:txBody>
          <a:bodyPr wrap="none" lIns="0" tIns="0" rIns="0" bIns="0" rtlCol="0" anchor="t">
            <a:spAutoFit/>
          </a:bodyPr>
          <a:lstStyle/>
          <a:p>
            <a:pPr algn="ctr" indent="0" marL="0">
              <a:buNone/>
            </a:pPr>
            <a:r>
              <a:rPr lang="en-US" sz="900" b="1" dirty="0">
                <a:solidFill>
                  <a:srgbClr val="9FE8F1"/>
                </a:solidFill>
                <a:latin typeface="Arial" pitchFamily="34" charset="0"/>
                <a:ea typeface="Arial" pitchFamily="34" charset="-122"/>
                <a:cs typeface="Arial" pitchFamily="34" charset="-120"/>
              </a:rPr>
              <a:t>Parser Agent</a:t>
            </a:r>
            <a:endParaRPr lang="en-US" sz="900" dirty="0"/>
          </a:p>
        </p:txBody>
      </p:sp>
      <p:sp>
        <p:nvSpPr>
          <p:cNvPr id="12" name="Shape 8"/>
          <p:cNvSpPr/>
          <p:nvPr/>
        </p:nvSpPr>
        <p:spPr>
          <a:xfrm>
            <a:off x="2857500" y="2095909"/>
            <a:ext cx="1143000" cy="714375"/>
          </a:xfrm>
          <a:prstGeom prst="rect">
            <a:avLst/>
          </a:prstGeom>
          <a:solidFill>
            <a:srgbClr val="0D263E"/>
          </a:solidFill>
          <a:ln w="9144">
            <a:solidFill>
              <a:srgbClr val="63D5E8"/>
            </a:solidFill>
            <a:prstDash val="solid"/>
          </a:ln>
        </p:spPr>
      </p:sp>
      <p:sp>
        <p:nvSpPr>
          <p:cNvPr id="13" name="Text 9"/>
          <p:cNvSpPr/>
          <p:nvPr/>
        </p:nvSpPr>
        <p:spPr>
          <a:xfrm>
            <a:off x="2971800" y="2217353"/>
            <a:ext cx="914400" cy="114300"/>
          </a:xfrm>
          <a:prstGeom prst="rect">
            <a:avLst/>
          </a:prstGeom>
          <a:noFill/>
          <a:ln/>
        </p:spPr>
        <p:txBody>
          <a:bodyPr wrap="none" lIns="0" tIns="0" rIns="0" bIns="0" rtlCol="0" anchor="t">
            <a:spAutoFit/>
          </a:bodyPr>
          <a:lstStyle/>
          <a:p>
            <a:pPr algn="ctr" indent="0" marL="0">
              <a:buNone/>
            </a:pPr>
            <a:r>
              <a:rPr lang="en-US" sz="700" b="1" spc="1" kern="0" dirty="0">
                <a:solidFill>
                  <a:srgbClr val="8AA4C2"/>
                </a:solidFill>
                <a:latin typeface="Arial" pitchFamily="34" charset="0"/>
                <a:ea typeface="Arial" pitchFamily="34" charset="-122"/>
                <a:cs typeface="Arial" pitchFamily="34" charset="-120"/>
              </a:rPr>
              <a:t>ANALYSIS</a:t>
            </a:r>
            <a:endParaRPr lang="en-US" sz="700" dirty="0"/>
          </a:p>
        </p:txBody>
      </p:sp>
      <p:sp>
        <p:nvSpPr>
          <p:cNvPr id="14" name="Text 10"/>
          <p:cNvSpPr/>
          <p:nvPr/>
        </p:nvSpPr>
        <p:spPr>
          <a:xfrm>
            <a:off x="2971800" y="2388803"/>
            <a:ext cx="914400" cy="300038"/>
          </a:xfrm>
          <a:prstGeom prst="rect">
            <a:avLst/>
          </a:prstGeom>
          <a:noFill/>
          <a:ln/>
        </p:spPr>
        <p:txBody>
          <a:bodyPr wrap="none" lIns="0" tIns="0" rIns="0" bIns="0" rtlCol="0" anchor="t">
            <a:spAutoFit/>
          </a:bodyPr>
          <a:lstStyle/>
          <a:p>
            <a:pPr algn="ctr" indent="0" marL="0">
              <a:buNone/>
            </a:pPr>
            <a:r>
              <a:rPr lang="en-US" sz="900" b="1" dirty="0">
                <a:solidFill>
                  <a:srgbClr val="9FE8F1"/>
                </a:solidFill>
                <a:latin typeface="Arial" pitchFamily="34" charset="0"/>
                <a:ea typeface="Arial" pitchFamily="34" charset="-122"/>
                <a:cs typeface="Arial" pitchFamily="34" charset="-120"/>
              </a:rPr>
              <a:t>Structure Agent</a:t>
            </a:r>
            <a:endParaRPr lang="en-US" sz="900" dirty="0"/>
          </a:p>
        </p:txBody>
      </p:sp>
      <p:sp>
        <p:nvSpPr>
          <p:cNvPr id="15" name="Shape 11"/>
          <p:cNvSpPr/>
          <p:nvPr/>
        </p:nvSpPr>
        <p:spPr>
          <a:xfrm>
            <a:off x="4086225" y="2095909"/>
            <a:ext cx="1143000" cy="714375"/>
          </a:xfrm>
          <a:prstGeom prst="rect">
            <a:avLst/>
          </a:prstGeom>
          <a:solidFill>
            <a:srgbClr val="0D263E"/>
          </a:solidFill>
          <a:ln w="9144">
            <a:solidFill>
              <a:srgbClr val="63D5E8"/>
            </a:solidFill>
            <a:prstDash val="solid"/>
          </a:ln>
        </p:spPr>
      </p:sp>
      <p:sp>
        <p:nvSpPr>
          <p:cNvPr id="16" name="Text 12"/>
          <p:cNvSpPr/>
          <p:nvPr/>
        </p:nvSpPr>
        <p:spPr>
          <a:xfrm>
            <a:off x="4200525" y="2217353"/>
            <a:ext cx="914400" cy="114300"/>
          </a:xfrm>
          <a:prstGeom prst="rect">
            <a:avLst/>
          </a:prstGeom>
          <a:noFill/>
          <a:ln/>
        </p:spPr>
        <p:txBody>
          <a:bodyPr wrap="none" lIns="0" tIns="0" rIns="0" bIns="0" rtlCol="0" anchor="t">
            <a:spAutoFit/>
          </a:bodyPr>
          <a:lstStyle/>
          <a:p>
            <a:pPr algn="ctr" indent="0" marL="0">
              <a:buNone/>
            </a:pPr>
            <a:r>
              <a:rPr lang="en-US" sz="700" b="1" spc="1" kern="0" dirty="0">
                <a:solidFill>
                  <a:srgbClr val="8AA4C2"/>
                </a:solidFill>
                <a:latin typeface="Arial" pitchFamily="34" charset="0"/>
                <a:ea typeface="Arial" pitchFamily="34" charset="-122"/>
                <a:cs typeface="Arial" pitchFamily="34" charset="-120"/>
              </a:rPr>
              <a:t>ANALYSIS</a:t>
            </a:r>
            <a:endParaRPr lang="en-US" sz="700" dirty="0"/>
          </a:p>
        </p:txBody>
      </p:sp>
      <p:sp>
        <p:nvSpPr>
          <p:cNvPr id="17" name="Text 13"/>
          <p:cNvSpPr/>
          <p:nvPr/>
        </p:nvSpPr>
        <p:spPr>
          <a:xfrm>
            <a:off x="4200525" y="2388803"/>
            <a:ext cx="914400" cy="300038"/>
          </a:xfrm>
          <a:prstGeom prst="rect">
            <a:avLst/>
          </a:prstGeom>
          <a:noFill/>
          <a:ln/>
        </p:spPr>
        <p:txBody>
          <a:bodyPr wrap="none" lIns="0" tIns="0" rIns="0" bIns="0" rtlCol="0" anchor="t">
            <a:spAutoFit/>
          </a:bodyPr>
          <a:lstStyle/>
          <a:p>
            <a:pPr algn="ctr" indent="0" marL="0">
              <a:buNone/>
            </a:pPr>
            <a:r>
              <a:rPr lang="en-US" sz="900" b="1" dirty="0">
                <a:solidFill>
                  <a:srgbClr val="9FE8F1"/>
                </a:solidFill>
                <a:latin typeface="Arial" pitchFamily="34" charset="0"/>
                <a:ea typeface="Arial" pitchFamily="34" charset="-122"/>
                <a:cs typeface="Arial" pitchFamily="34" charset="-120"/>
              </a:rPr>
              <a:t>Data-Flow Agent</a:t>
            </a:r>
            <a:endParaRPr lang="en-US" sz="900" dirty="0"/>
          </a:p>
        </p:txBody>
      </p:sp>
      <p:sp>
        <p:nvSpPr>
          <p:cNvPr id="18" name="Shape 14"/>
          <p:cNvSpPr/>
          <p:nvPr/>
        </p:nvSpPr>
        <p:spPr>
          <a:xfrm>
            <a:off x="5314950" y="2095909"/>
            <a:ext cx="1143000" cy="714375"/>
          </a:xfrm>
          <a:prstGeom prst="rect">
            <a:avLst/>
          </a:prstGeom>
          <a:solidFill>
            <a:srgbClr val="0D263E"/>
          </a:solidFill>
          <a:ln w="9144">
            <a:solidFill>
              <a:srgbClr val="63D5E8"/>
            </a:solidFill>
            <a:prstDash val="solid"/>
          </a:ln>
        </p:spPr>
      </p:sp>
      <p:sp>
        <p:nvSpPr>
          <p:cNvPr id="19" name="Text 15"/>
          <p:cNvSpPr/>
          <p:nvPr/>
        </p:nvSpPr>
        <p:spPr>
          <a:xfrm>
            <a:off x="5429250" y="2217353"/>
            <a:ext cx="914400" cy="114300"/>
          </a:xfrm>
          <a:prstGeom prst="rect">
            <a:avLst/>
          </a:prstGeom>
          <a:noFill/>
          <a:ln/>
        </p:spPr>
        <p:txBody>
          <a:bodyPr wrap="none" lIns="0" tIns="0" rIns="0" bIns="0" rtlCol="0" anchor="t">
            <a:spAutoFit/>
          </a:bodyPr>
          <a:lstStyle/>
          <a:p>
            <a:pPr algn="ctr" indent="0" marL="0">
              <a:buNone/>
            </a:pPr>
            <a:r>
              <a:rPr lang="en-US" sz="700" b="1" spc="1" kern="0" dirty="0">
                <a:solidFill>
                  <a:srgbClr val="8AA4C2"/>
                </a:solidFill>
                <a:latin typeface="Arial" pitchFamily="34" charset="0"/>
                <a:ea typeface="Arial" pitchFamily="34" charset="-122"/>
                <a:cs typeface="Arial" pitchFamily="34" charset="-120"/>
              </a:rPr>
              <a:t>ANALYSIS</a:t>
            </a:r>
            <a:endParaRPr lang="en-US" sz="700" dirty="0"/>
          </a:p>
        </p:txBody>
      </p:sp>
      <p:sp>
        <p:nvSpPr>
          <p:cNvPr id="20" name="Text 16"/>
          <p:cNvSpPr/>
          <p:nvPr/>
        </p:nvSpPr>
        <p:spPr>
          <a:xfrm>
            <a:off x="5429250" y="2388803"/>
            <a:ext cx="914400" cy="300038"/>
          </a:xfrm>
          <a:prstGeom prst="rect">
            <a:avLst/>
          </a:prstGeom>
          <a:noFill/>
          <a:ln/>
        </p:spPr>
        <p:txBody>
          <a:bodyPr wrap="none" lIns="0" tIns="0" rIns="0" bIns="0" rtlCol="0" anchor="t">
            <a:spAutoFit/>
          </a:bodyPr>
          <a:lstStyle/>
          <a:p>
            <a:pPr algn="ctr" indent="0" marL="0">
              <a:buNone/>
            </a:pPr>
            <a:r>
              <a:rPr lang="en-US" sz="900" b="1" dirty="0">
                <a:solidFill>
                  <a:srgbClr val="9FE8F1"/>
                </a:solidFill>
                <a:latin typeface="Arial" pitchFamily="34" charset="0"/>
                <a:ea typeface="Arial" pitchFamily="34" charset="-122"/>
                <a:cs typeface="Arial" pitchFamily="34" charset="-120"/>
              </a:rPr>
              <a:t>Business-Rule Agent</a:t>
            </a:r>
            <a:endParaRPr lang="en-US" sz="900" dirty="0"/>
          </a:p>
        </p:txBody>
      </p:sp>
      <p:sp>
        <p:nvSpPr>
          <p:cNvPr id="21" name="Shape 17"/>
          <p:cNvSpPr/>
          <p:nvPr/>
        </p:nvSpPr>
        <p:spPr>
          <a:xfrm>
            <a:off x="6457950" y="2170919"/>
            <a:ext cx="1143000" cy="564356"/>
          </a:xfrm>
          <a:prstGeom prst="rect">
            <a:avLst/>
          </a:prstGeom>
          <a:solidFill>
            <a:srgbClr val="0D263E"/>
          </a:solidFill>
          <a:ln w="9144">
            <a:solidFill>
              <a:srgbClr val="63D5E8"/>
            </a:solidFill>
            <a:prstDash val="solid"/>
          </a:ln>
        </p:spPr>
      </p:sp>
      <p:sp>
        <p:nvSpPr>
          <p:cNvPr id="22" name="Text 18"/>
          <p:cNvSpPr/>
          <p:nvPr/>
        </p:nvSpPr>
        <p:spPr>
          <a:xfrm>
            <a:off x="6572250" y="2292362"/>
            <a:ext cx="914400" cy="114300"/>
          </a:xfrm>
          <a:prstGeom prst="rect">
            <a:avLst/>
          </a:prstGeom>
          <a:noFill/>
          <a:ln/>
        </p:spPr>
        <p:txBody>
          <a:bodyPr wrap="none" lIns="0" tIns="0" rIns="0" bIns="0" rtlCol="0" anchor="t">
            <a:spAutoFit/>
          </a:bodyPr>
          <a:lstStyle/>
          <a:p>
            <a:pPr algn="ctr" indent="0" marL="0">
              <a:buNone/>
            </a:pPr>
            <a:r>
              <a:rPr lang="en-US" sz="700" b="1" spc="1" kern="0" dirty="0">
                <a:solidFill>
                  <a:srgbClr val="8AA4C2"/>
                </a:solidFill>
                <a:latin typeface="Arial" pitchFamily="34" charset="0"/>
                <a:ea typeface="Arial" pitchFamily="34" charset="-122"/>
                <a:cs typeface="Arial" pitchFamily="34" charset="-120"/>
              </a:rPr>
              <a:t>STAGE 3</a:t>
            </a:r>
            <a:endParaRPr lang="en-US" sz="700" dirty="0"/>
          </a:p>
        </p:txBody>
      </p:sp>
      <p:sp>
        <p:nvSpPr>
          <p:cNvPr id="23" name="Text 19"/>
          <p:cNvSpPr/>
          <p:nvPr/>
        </p:nvSpPr>
        <p:spPr>
          <a:xfrm>
            <a:off x="6572250" y="2463812"/>
            <a:ext cx="914400" cy="150019"/>
          </a:xfrm>
          <a:prstGeom prst="rect">
            <a:avLst/>
          </a:prstGeom>
          <a:noFill/>
          <a:ln/>
        </p:spPr>
        <p:txBody>
          <a:bodyPr wrap="none" lIns="0" tIns="0" rIns="0" bIns="0" rtlCol="0" anchor="t">
            <a:spAutoFit/>
          </a:bodyPr>
          <a:lstStyle/>
          <a:p>
            <a:pPr algn="ctr" indent="0" marL="0">
              <a:buNone/>
            </a:pPr>
            <a:r>
              <a:rPr lang="en-US" sz="900" b="1" dirty="0">
                <a:solidFill>
                  <a:srgbClr val="9FE8F1"/>
                </a:solidFill>
                <a:latin typeface="Arial" pitchFamily="34" charset="0"/>
                <a:ea typeface="Arial" pitchFamily="34" charset="-122"/>
                <a:cs typeface="Arial" pitchFamily="34" charset="-120"/>
              </a:rPr>
              <a:t>Builder Agent</a:t>
            </a:r>
            <a:endParaRPr lang="en-US" sz="900" dirty="0"/>
          </a:p>
        </p:txBody>
      </p:sp>
      <p:sp>
        <p:nvSpPr>
          <p:cNvPr id="24" name="Shape 20"/>
          <p:cNvSpPr/>
          <p:nvPr/>
        </p:nvSpPr>
        <p:spPr>
          <a:xfrm>
            <a:off x="7600950" y="2095909"/>
            <a:ext cx="1143000" cy="714375"/>
          </a:xfrm>
          <a:prstGeom prst="rect">
            <a:avLst/>
          </a:prstGeom>
          <a:solidFill>
            <a:srgbClr val="0D263E"/>
          </a:solidFill>
          <a:ln w="9144">
            <a:solidFill>
              <a:srgbClr val="F3B562"/>
            </a:solidFill>
            <a:prstDash val="solid"/>
          </a:ln>
        </p:spPr>
      </p:sp>
      <p:sp>
        <p:nvSpPr>
          <p:cNvPr id="25" name="Text 21"/>
          <p:cNvSpPr/>
          <p:nvPr/>
        </p:nvSpPr>
        <p:spPr>
          <a:xfrm>
            <a:off x="7715250" y="2217353"/>
            <a:ext cx="914400" cy="114300"/>
          </a:xfrm>
          <a:prstGeom prst="rect">
            <a:avLst/>
          </a:prstGeom>
          <a:noFill/>
          <a:ln/>
        </p:spPr>
        <p:txBody>
          <a:bodyPr wrap="none" lIns="0" tIns="0" rIns="0" bIns="0" rtlCol="0" anchor="t">
            <a:spAutoFit/>
          </a:bodyPr>
          <a:lstStyle/>
          <a:p>
            <a:pPr algn="ctr" indent="0" marL="0">
              <a:buNone/>
            </a:pPr>
            <a:r>
              <a:rPr lang="en-US" sz="700" b="1" spc="1" kern="0" dirty="0">
                <a:solidFill>
                  <a:srgbClr val="8AA4C2"/>
                </a:solidFill>
                <a:latin typeface="Arial" pitchFamily="34" charset="0"/>
                <a:ea typeface="Arial" pitchFamily="34" charset="-122"/>
                <a:cs typeface="Arial" pitchFamily="34" charset="-120"/>
              </a:rPr>
              <a:t>OUTPUT</a:t>
            </a:r>
            <a:endParaRPr lang="en-US" sz="700" dirty="0"/>
          </a:p>
        </p:txBody>
      </p:sp>
      <p:sp>
        <p:nvSpPr>
          <p:cNvPr id="26" name="Text 22"/>
          <p:cNvSpPr/>
          <p:nvPr/>
        </p:nvSpPr>
        <p:spPr>
          <a:xfrm>
            <a:off x="7715250" y="2388803"/>
            <a:ext cx="914400" cy="300038"/>
          </a:xfrm>
          <a:prstGeom prst="rect">
            <a:avLst/>
          </a:prstGeom>
          <a:noFill/>
          <a:ln/>
        </p:spPr>
        <p:txBody>
          <a:bodyPr wrap="none" lIns="0" tIns="0" rIns="0" bIns="0" rtlCol="0" anchor="t">
            <a:spAutoFit/>
          </a:bodyPr>
          <a:lstStyle/>
          <a:p>
            <a:pPr algn="ctr" indent="0" marL="0">
              <a:buNone/>
            </a:pPr>
            <a:r>
              <a:rPr lang="en-US" sz="900" b="1" dirty="0">
                <a:solidFill>
                  <a:srgbClr val="F7C98D"/>
                </a:solidFill>
                <a:latin typeface="Arial" pitchFamily="34" charset="0"/>
                <a:ea typeface="Arial" pitchFamily="34" charset="-122"/>
                <a:cs typeface="Arial" pitchFamily="34" charset="-120"/>
              </a:rPr>
              <a:t>KDM-oriented XML</a:t>
            </a:r>
            <a:endParaRPr lang="en-US" sz="900" dirty="0"/>
          </a:p>
        </p:txBody>
      </p:sp>
      <p:sp>
        <p:nvSpPr>
          <p:cNvPr id="27" name="Text 23"/>
          <p:cNvSpPr/>
          <p:nvPr/>
        </p:nvSpPr>
        <p:spPr>
          <a:xfrm>
            <a:off x="571500" y="3610384"/>
            <a:ext cx="3857625" cy="132159"/>
          </a:xfrm>
          <a:prstGeom prst="rect">
            <a:avLst/>
          </a:prstGeom>
          <a:noFill/>
          <a:ln/>
        </p:spPr>
        <p:txBody>
          <a:bodyPr wrap="square" lIns="0" tIns="0" rIns="0" bIns="0" rtlCol="0" anchor="t">
            <a:spAutoFit/>
          </a:bodyPr>
          <a:lstStyle/>
          <a:p>
            <a:pPr algn="l" indent="0" marL="0">
              <a:buNone/>
            </a:pPr>
            <a:r>
              <a:rPr lang="en-US" sz="800" b="1" dirty="0">
                <a:solidFill>
                  <a:srgbClr val="63D5E8"/>
                </a:solidFill>
                <a:latin typeface="Arial" pitchFamily="34" charset="0"/>
                <a:ea typeface="Arial" pitchFamily="34" charset="-122"/>
                <a:cs typeface="Arial" pitchFamily="34" charset="-120"/>
              </a:rPr>
              <a:t>Shared Representation</a:t>
            </a:r>
            <a:endParaRPr lang="en-US" sz="800" dirty="0"/>
          </a:p>
        </p:txBody>
      </p:sp>
      <p:sp>
        <p:nvSpPr>
          <p:cNvPr id="28" name="Text 24"/>
          <p:cNvSpPr/>
          <p:nvPr/>
        </p:nvSpPr>
        <p:spPr>
          <a:xfrm>
            <a:off x="571500" y="3799694"/>
            <a:ext cx="3857625"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B5C4D6"/>
                </a:solidFill>
                <a:latin typeface="Arial" pitchFamily="34" charset="0"/>
                <a:ea typeface="Arial" pitchFamily="34" charset="-122"/>
                <a:cs typeface="Arial" pitchFamily="34" charset="-120"/>
              </a:rPr>
              <a:t>Parsing produces a concise intermediate AST used by analysis agents independently.</a:t>
            </a:r>
            <a:endParaRPr lang="en-US" sz="850" dirty="0"/>
          </a:p>
        </p:txBody>
      </p:sp>
      <p:sp>
        <p:nvSpPr>
          <p:cNvPr id="29" name="Text 25"/>
          <p:cNvSpPr/>
          <p:nvPr/>
        </p:nvSpPr>
        <p:spPr>
          <a:xfrm>
            <a:off x="4714875" y="3610384"/>
            <a:ext cx="3857625" cy="132159"/>
          </a:xfrm>
          <a:prstGeom prst="rect">
            <a:avLst/>
          </a:prstGeom>
          <a:noFill/>
          <a:ln/>
        </p:spPr>
        <p:txBody>
          <a:bodyPr wrap="square" lIns="0" tIns="0" rIns="0" bIns="0" rtlCol="0" anchor="t">
            <a:spAutoFit/>
          </a:bodyPr>
          <a:lstStyle/>
          <a:p>
            <a:pPr algn="l" indent="0" marL="0">
              <a:buNone/>
            </a:pPr>
            <a:r>
              <a:rPr lang="en-US" sz="800" b="1" dirty="0">
                <a:solidFill>
                  <a:srgbClr val="63D5E8"/>
                </a:solidFill>
                <a:latin typeface="Arial" pitchFamily="34" charset="0"/>
                <a:ea typeface="Arial" pitchFamily="34" charset="-122"/>
                <a:cs typeface="Arial" pitchFamily="34" charset="-120"/>
              </a:rPr>
              <a:t>Synthesis &amp; Validation</a:t>
            </a:r>
            <a:endParaRPr lang="en-US" sz="800" dirty="0"/>
          </a:p>
        </p:txBody>
      </p:sp>
      <p:sp>
        <p:nvSpPr>
          <p:cNvPr id="30" name="Text 26"/>
          <p:cNvSpPr/>
          <p:nvPr/>
        </p:nvSpPr>
        <p:spPr>
          <a:xfrm>
            <a:off x="4714875" y="3799694"/>
            <a:ext cx="3857625"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B5C4D6"/>
                </a:solidFill>
                <a:latin typeface="Arial" pitchFamily="34" charset="0"/>
                <a:ea typeface="Arial" pitchFamily="34" charset="-122"/>
                <a:cs typeface="Arial" pitchFamily="34" charset="-120"/>
              </a:rPr>
              <a:t>The Builder merges results and a Validator runs before final serialization.</a:t>
            </a:r>
            <a:endParaRPr lang="en-US" sz="850" dirty="0"/>
          </a:p>
        </p:txBody>
      </p:sp>
      <p:sp>
        <p:nvSpPr>
          <p:cNvPr id="31" name="Text 27"/>
          <p:cNvSpPr/>
          <p:nvPr/>
        </p:nvSpPr>
        <p:spPr>
          <a:xfrm>
            <a:off x="571500" y="4832747"/>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32" name="Text 28"/>
          <p:cNvSpPr/>
          <p:nvPr/>
        </p:nvSpPr>
        <p:spPr>
          <a:xfrm>
            <a:off x="8454907" y="4832747"/>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05</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85788" y="514350"/>
            <a:ext cx="7972425"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05 / AGENT ROLES</a:t>
            </a:r>
            <a:endParaRPr lang="en-US" sz="700" dirty="0"/>
          </a:p>
        </p:txBody>
      </p:sp>
      <p:sp>
        <p:nvSpPr>
          <p:cNvPr id="4" name="Text 1"/>
          <p:cNvSpPr/>
          <p:nvPr/>
        </p:nvSpPr>
        <p:spPr>
          <a:xfrm>
            <a:off x="585788" y="757238"/>
            <a:ext cx="6429375" cy="660016"/>
          </a:xfrm>
          <a:prstGeom prst="rect">
            <a:avLst/>
          </a:prstGeom>
          <a:noFill/>
          <a:ln/>
        </p:spPr>
        <p:txBody>
          <a:bodyPr wrap="square" lIns="0" tIns="0" rIns="0" bIns="0" rtlCol="0" anchor="t">
            <a:spAutoFit/>
          </a:bodyPr>
          <a:lstStyle/>
          <a:p>
            <a:pPr algn="l" indent="0" marL="0">
              <a:lnSpc>
                <a:spcPct val="88000"/>
              </a:lnSpc>
              <a:buNone/>
            </a:pPr>
            <a:r>
              <a:rPr lang="en-US" sz="2250" dirty="0">
                <a:solidFill>
                  <a:srgbClr val="F8FAFC"/>
                </a:solidFill>
                <a:latin typeface="Arial" pitchFamily="34" charset="0"/>
                <a:ea typeface="Arial" pitchFamily="34" charset="-122"/>
                <a:cs typeface="Arial" pitchFamily="34" charset="-120"/>
              </a:rPr>
              <a:t>Deterministic foundations protect semantic experimentation</a:t>
            </a:r>
            <a:endParaRPr lang="en-US" sz="2250" dirty="0"/>
          </a:p>
        </p:txBody>
      </p:sp>
      <p:sp>
        <p:nvSpPr>
          <p:cNvPr id="5" name="Shape 2"/>
          <p:cNvSpPr/>
          <p:nvPr/>
        </p:nvSpPr>
        <p:spPr>
          <a:xfrm>
            <a:off x="585788" y="1760153"/>
            <a:ext cx="1961183" cy="350044"/>
          </a:xfrm>
          <a:prstGeom prst="rect">
            <a:avLst/>
          </a:prstGeom>
          <a:solidFill>
            <a:srgbClr val="162C46"/>
          </a:solidFill>
          <a:ln/>
        </p:spPr>
      </p:sp>
      <p:sp>
        <p:nvSpPr>
          <p:cNvPr id="6" name="Shape 3"/>
          <p:cNvSpPr/>
          <p:nvPr/>
        </p:nvSpPr>
        <p:spPr>
          <a:xfrm>
            <a:off x="585788" y="2095909"/>
            <a:ext cx="1961183" cy="14288"/>
          </a:xfrm>
          <a:prstGeom prst="rect">
            <a:avLst/>
          </a:prstGeom>
          <a:solidFill>
            <a:srgbClr val="2F6D89"/>
          </a:solidFill>
          <a:ln/>
        </p:spPr>
      </p:sp>
      <p:sp>
        <p:nvSpPr>
          <p:cNvPr id="7" name="Text 4"/>
          <p:cNvSpPr/>
          <p:nvPr/>
        </p:nvSpPr>
        <p:spPr>
          <a:xfrm>
            <a:off x="585788" y="1760153"/>
            <a:ext cx="1961183" cy="350044"/>
          </a:xfrm>
          <a:prstGeom prst="rect">
            <a:avLst/>
          </a:prstGeom>
          <a:noFill/>
          <a:ln/>
        </p:spPr>
        <p:txBody>
          <a:bodyPr wrap="square" lIns="136017" tIns="136017" rIns="136017" bIns="136017" rtlCol="0" anchor="ctr">
            <a:spAutoFit/>
          </a:bodyPr>
          <a:lstStyle/>
          <a:p>
            <a:pPr algn="l" indent="0" marL="0">
              <a:buNone/>
            </a:pPr>
            <a:r>
              <a:rPr lang="en-US" sz="700" b="1" spc="1" kern="0" dirty="0">
                <a:solidFill>
                  <a:srgbClr val="63D5E8"/>
                </a:solidFill>
                <a:latin typeface="Arial" pitchFamily="34" charset="0"/>
                <a:ea typeface="Arial" pitchFamily="34" charset="-122"/>
                <a:cs typeface="Arial" pitchFamily="34" charset="-120"/>
              </a:rPr>
              <a:t>AGENT</a:t>
            </a:r>
            <a:endParaRPr lang="en-US" sz="700" dirty="0"/>
          </a:p>
        </p:txBody>
      </p:sp>
      <p:sp>
        <p:nvSpPr>
          <p:cNvPr id="8" name="Shape 5"/>
          <p:cNvSpPr/>
          <p:nvPr/>
        </p:nvSpPr>
        <p:spPr>
          <a:xfrm>
            <a:off x="2546970" y="1760153"/>
            <a:ext cx="3751083" cy="350044"/>
          </a:xfrm>
          <a:prstGeom prst="rect">
            <a:avLst/>
          </a:prstGeom>
          <a:solidFill>
            <a:srgbClr val="162C46"/>
          </a:solidFill>
          <a:ln/>
        </p:spPr>
      </p:sp>
      <p:sp>
        <p:nvSpPr>
          <p:cNvPr id="9" name="Shape 6"/>
          <p:cNvSpPr/>
          <p:nvPr/>
        </p:nvSpPr>
        <p:spPr>
          <a:xfrm>
            <a:off x="2546970" y="2095909"/>
            <a:ext cx="3751083" cy="14288"/>
          </a:xfrm>
          <a:prstGeom prst="rect">
            <a:avLst/>
          </a:prstGeom>
          <a:solidFill>
            <a:srgbClr val="2F6D89"/>
          </a:solidFill>
          <a:ln/>
        </p:spPr>
      </p:sp>
      <p:sp>
        <p:nvSpPr>
          <p:cNvPr id="10" name="Text 7"/>
          <p:cNvSpPr/>
          <p:nvPr/>
        </p:nvSpPr>
        <p:spPr>
          <a:xfrm>
            <a:off x="2546970" y="1760153"/>
            <a:ext cx="3751083" cy="350044"/>
          </a:xfrm>
          <a:prstGeom prst="rect">
            <a:avLst/>
          </a:prstGeom>
          <a:noFill/>
          <a:ln/>
        </p:spPr>
        <p:txBody>
          <a:bodyPr wrap="square" lIns="136017" tIns="136017" rIns="136017" bIns="136017" rtlCol="0" anchor="ctr">
            <a:spAutoFit/>
          </a:bodyPr>
          <a:lstStyle/>
          <a:p>
            <a:pPr algn="l" indent="0" marL="0">
              <a:buNone/>
            </a:pPr>
            <a:r>
              <a:rPr lang="en-US" sz="700" b="1" spc="1" kern="0" dirty="0">
                <a:solidFill>
                  <a:srgbClr val="63D5E8"/>
                </a:solidFill>
                <a:latin typeface="Arial" pitchFamily="34" charset="0"/>
                <a:ea typeface="Arial" pitchFamily="34" charset="-122"/>
                <a:cs typeface="Arial" pitchFamily="34" charset="-120"/>
              </a:rPr>
              <a:t>PRIMARY RESPONSIBILITY</a:t>
            </a:r>
            <a:endParaRPr lang="en-US" sz="700" dirty="0"/>
          </a:p>
        </p:txBody>
      </p:sp>
      <p:sp>
        <p:nvSpPr>
          <p:cNvPr id="11" name="Shape 8"/>
          <p:cNvSpPr/>
          <p:nvPr/>
        </p:nvSpPr>
        <p:spPr>
          <a:xfrm>
            <a:off x="6298053" y="1760153"/>
            <a:ext cx="2260160" cy="350044"/>
          </a:xfrm>
          <a:prstGeom prst="rect">
            <a:avLst/>
          </a:prstGeom>
          <a:solidFill>
            <a:srgbClr val="162C46"/>
          </a:solidFill>
          <a:ln/>
        </p:spPr>
      </p:sp>
      <p:sp>
        <p:nvSpPr>
          <p:cNvPr id="12" name="Shape 9"/>
          <p:cNvSpPr/>
          <p:nvPr/>
        </p:nvSpPr>
        <p:spPr>
          <a:xfrm>
            <a:off x="6298053" y="2095909"/>
            <a:ext cx="2260160" cy="14288"/>
          </a:xfrm>
          <a:prstGeom prst="rect">
            <a:avLst/>
          </a:prstGeom>
          <a:solidFill>
            <a:srgbClr val="2F6D89"/>
          </a:solidFill>
          <a:ln/>
        </p:spPr>
      </p:sp>
      <p:sp>
        <p:nvSpPr>
          <p:cNvPr id="13" name="Text 10"/>
          <p:cNvSpPr/>
          <p:nvPr/>
        </p:nvSpPr>
        <p:spPr>
          <a:xfrm>
            <a:off x="6298053" y="1760153"/>
            <a:ext cx="2260160" cy="350044"/>
          </a:xfrm>
          <a:prstGeom prst="rect">
            <a:avLst/>
          </a:prstGeom>
          <a:noFill/>
          <a:ln/>
        </p:spPr>
        <p:txBody>
          <a:bodyPr wrap="square" lIns="136017" tIns="136017" rIns="136017" bIns="136017" rtlCol="0" anchor="ctr">
            <a:spAutoFit/>
          </a:bodyPr>
          <a:lstStyle/>
          <a:p>
            <a:pPr algn="l" indent="0" marL="0">
              <a:buNone/>
            </a:pPr>
            <a:r>
              <a:rPr lang="en-US" sz="700" b="1" spc="1" kern="0" dirty="0">
                <a:solidFill>
                  <a:srgbClr val="63D5E8"/>
                </a:solidFill>
                <a:latin typeface="Arial" pitchFamily="34" charset="0"/>
                <a:ea typeface="Arial" pitchFamily="34" charset="-122"/>
                <a:cs typeface="Arial" pitchFamily="34" charset="-120"/>
              </a:rPr>
              <a:t>CURRENT APPROACH</a:t>
            </a:r>
            <a:endParaRPr lang="en-US" sz="700" dirty="0"/>
          </a:p>
        </p:txBody>
      </p:sp>
      <p:sp>
        <p:nvSpPr>
          <p:cNvPr id="14" name="Text 11"/>
          <p:cNvSpPr/>
          <p:nvPr/>
        </p:nvSpPr>
        <p:spPr>
          <a:xfrm>
            <a:off x="585788" y="2103053"/>
            <a:ext cx="1961183" cy="433592"/>
          </a:xfrm>
          <a:prstGeom prst="rect">
            <a:avLst/>
          </a:prstGeom>
          <a:noFill/>
          <a:ln/>
        </p:spPr>
        <p:txBody>
          <a:bodyPr wrap="square" lIns="136017" tIns="136017" rIns="136017" bIns="136017" rtlCol="0" anchor="ctr">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Parser Agent</a:t>
            </a:r>
            <a:endParaRPr lang="en-US" sz="900" dirty="0"/>
          </a:p>
        </p:txBody>
      </p:sp>
      <p:sp>
        <p:nvSpPr>
          <p:cNvPr id="15" name="Text 12"/>
          <p:cNvSpPr/>
          <p:nvPr/>
        </p:nvSpPr>
        <p:spPr>
          <a:xfrm>
            <a:off x="2546970" y="2103053"/>
            <a:ext cx="3751083" cy="433592"/>
          </a:xfrm>
          <a:prstGeom prst="rect">
            <a:avLst/>
          </a:prstGeom>
          <a:noFill/>
          <a:ln/>
        </p:spPr>
        <p:txBody>
          <a:bodyPr wrap="square" lIns="136017" tIns="136017" rIns="136017" bIns="136017" rtlCol="0" anchor="ctr">
            <a:spAutoFit/>
          </a:bodyPr>
          <a:lstStyle/>
          <a:p>
            <a:pPr algn="l" indent="0" marL="0">
              <a:lnSpc>
                <a:spcPct val="112000"/>
              </a:lnSpc>
              <a:buNone/>
            </a:pPr>
            <a:r>
              <a:rPr lang="en-US" sz="950" dirty="0">
                <a:solidFill>
                  <a:srgbClr val="F8FAFC"/>
                </a:solidFill>
                <a:latin typeface="Arial" pitchFamily="34" charset="0"/>
                <a:ea typeface="Arial" pitchFamily="34" charset="-122"/>
                <a:cs typeface="Arial" pitchFamily="34" charset="-120"/>
              </a:rPr>
              <a:t>Extract program, data, and procedure structure</a:t>
            </a:r>
            <a:endParaRPr lang="en-US" sz="950" dirty="0"/>
          </a:p>
        </p:txBody>
      </p:sp>
      <p:sp>
        <p:nvSpPr>
          <p:cNvPr id="16" name="Shape 13"/>
          <p:cNvSpPr/>
          <p:nvPr/>
        </p:nvSpPr>
        <p:spPr>
          <a:xfrm>
            <a:off x="6412353" y="2217353"/>
            <a:ext cx="1492207" cy="201420"/>
          </a:xfrm>
          <a:prstGeom prst="rect">
            <a:avLst/>
          </a:prstGeom>
          <a:solidFill>
            <a:srgbClr val="0D263E"/>
          </a:solidFill>
          <a:ln w="9144">
            <a:solidFill>
              <a:srgbClr val="2F6D89"/>
            </a:solidFill>
            <a:prstDash val="solid"/>
          </a:ln>
        </p:spPr>
      </p:sp>
      <p:sp>
        <p:nvSpPr>
          <p:cNvPr id="17" name="Text 14"/>
          <p:cNvSpPr/>
          <p:nvPr/>
        </p:nvSpPr>
        <p:spPr>
          <a:xfrm>
            <a:off x="6412353" y="2217353"/>
            <a:ext cx="1492207" cy="201420"/>
          </a:xfrm>
          <a:prstGeom prst="rect">
            <a:avLst/>
          </a:prstGeom>
          <a:noFill/>
          <a:ln/>
        </p:spPr>
        <p:txBody>
          <a:bodyPr wrap="square" lIns="85090" tIns="34036" rIns="85090" bIns="34036" rtlCol="0" anchor="t">
            <a:spAutoFit/>
          </a:bodyPr>
          <a:lstStyle/>
          <a:p>
            <a:pPr algn="l" indent="0" marL="0">
              <a:lnSpc>
                <a:spcPct val="112000"/>
              </a:lnSpc>
              <a:buNone/>
            </a:pPr>
            <a:r>
              <a:rPr lang="en-US" sz="650" b="1" dirty="0">
                <a:solidFill>
                  <a:srgbClr val="9FE8F1"/>
                </a:solidFill>
                <a:latin typeface="Arial" pitchFamily="34" charset="0"/>
                <a:ea typeface="Arial" pitchFamily="34" charset="-122"/>
                <a:cs typeface="Arial" pitchFamily="34" charset="-120"/>
              </a:rPr>
              <a:t>ANTLR + RECOVERY LOGIC</a:t>
            </a:r>
            <a:endParaRPr lang="en-US" sz="650" dirty="0"/>
          </a:p>
        </p:txBody>
      </p:sp>
      <p:sp>
        <p:nvSpPr>
          <p:cNvPr id="18" name="Text 15"/>
          <p:cNvSpPr/>
          <p:nvPr/>
        </p:nvSpPr>
        <p:spPr>
          <a:xfrm>
            <a:off x="585788" y="2529501"/>
            <a:ext cx="1961183"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Structure Agent</a:t>
            </a:r>
            <a:endParaRPr lang="en-US" sz="900" dirty="0"/>
          </a:p>
        </p:txBody>
      </p:sp>
      <p:sp>
        <p:nvSpPr>
          <p:cNvPr id="19" name="Text 16"/>
          <p:cNvSpPr/>
          <p:nvPr/>
        </p:nvSpPr>
        <p:spPr>
          <a:xfrm>
            <a:off x="2546970" y="2529501"/>
            <a:ext cx="3751083"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50" dirty="0">
                <a:solidFill>
                  <a:srgbClr val="F8FAFC"/>
                </a:solidFill>
                <a:latin typeface="Arial" pitchFamily="34" charset="0"/>
                <a:ea typeface="Arial" pitchFamily="34" charset="-122"/>
                <a:cs typeface="Arial" pitchFamily="34" charset="-120"/>
              </a:rPr>
              <a:t>Identify paragraphs and PERFORM calls</a:t>
            </a:r>
            <a:endParaRPr lang="en-US" sz="950" dirty="0"/>
          </a:p>
        </p:txBody>
      </p:sp>
      <p:sp>
        <p:nvSpPr>
          <p:cNvPr id="20" name="Shape 17"/>
          <p:cNvSpPr/>
          <p:nvPr/>
        </p:nvSpPr>
        <p:spPr>
          <a:xfrm>
            <a:off x="6412353" y="2647373"/>
            <a:ext cx="1470608" cy="201420"/>
          </a:xfrm>
          <a:prstGeom prst="rect">
            <a:avLst/>
          </a:prstGeom>
          <a:solidFill>
            <a:srgbClr val="0D263E"/>
          </a:solidFill>
          <a:ln w="9144">
            <a:solidFill>
              <a:srgbClr val="2F6D89"/>
            </a:solidFill>
            <a:prstDash val="solid"/>
          </a:ln>
        </p:spPr>
      </p:sp>
      <p:sp>
        <p:nvSpPr>
          <p:cNvPr id="21" name="Text 18"/>
          <p:cNvSpPr/>
          <p:nvPr/>
        </p:nvSpPr>
        <p:spPr>
          <a:xfrm>
            <a:off x="6412353" y="2647373"/>
            <a:ext cx="1470608" cy="201420"/>
          </a:xfrm>
          <a:prstGeom prst="rect">
            <a:avLst/>
          </a:prstGeom>
          <a:noFill/>
          <a:ln/>
        </p:spPr>
        <p:txBody>
          <a:bodyPr wrap="square" lIns="85090" tIns="34036" rIns="85090" bIns="34036" rtlCol="0" anchor="t">
            <a:spAutoFit/>
          </a:bodyPr>
          <a:lstStyle/>
          <a:p>
            <a:pPr algn="l" indent="0" marL="0">
              <a:lnSpc>
                <a:spcPct val="112000"/>
              </a:lnSpc>
              <a:buNone/>
            </a:pPr>
            <a:r>
              <a:rPr lang="en-US" sz="650" b="1" dirty="0">
                <a:solidFill>
                  <a:srgbClr val="9FE8F1"/>
                </a:solidFill>
                <a:latin typeface="Arial" pitchFamily="34" charset="0"/>
                <a:ea typeface="Arial" pitchFamily="34" charset="-122"/>
                <a:cs typeface="Arial" pitchFamily="34" charset="-120"/>
              </a:rPr>
              <a:t>DETERMINISTIC PATTERNS</a:t>
            </a:r>
            <a:endParaRPr lang="en-US" sz="650" dirty="0"/>
          </a:p>
        </p:txBody>
      </p:sp>
      <p:sp>
        <p:nvSpPr>
          <p:cNvPr id="22" name="Text 19"/>
          <p:cNvSpPr/>
          <p:nvPr/>
        </p:nvSpPr>
        <p:spPr>
          <a:xfrm>
            <a:off x="585788" y="2959522"/>
            <a:ext cx="1961183"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Data-Flow Agent</a:t>
            </a:r>
            <a:endParaRPr lang="en-US" sz="900" dirty="0"/>
          </a:p>
        </p:txBody>
      </p:sp>
      <p:sp>
        <p:nvSpPr>
          <p:cNvPr id="23" name="Text 20"/>
          <p:cNvSpPr/>
          <p:nvPr/>
        </p:nvSpPr>
        <p:spPr>
          <a:xfrm>
            <a:off x="2546970" y="2959522"/>
            <a:ext cx="3751083"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50" dirty="0">
                <a:solidFill>
                  <a:srgbClr val="F8FAFC"/>
                </a:solidFill>
                <a:latin typeface="Arial" pitchFamily="34" charset="0"/>
                <a:ea typeface="Arial" pitchFamily="34" charset="-122"/>
                <a:cs typeface="Arial" pitchFamily="34" charset="-120"/>
              </a:rPr>
              <a:t>Identify reads, writes, and computations</a:t>
            </a:r>
            <a:endParaRPr lang="en-US" sz="950" dirty="0"/>
          </a:p>
        </p:txBody>
      </p:sp>
      <p:sp>
        <p:nvSpPr>
          <p:cNvPr id="24" name="Shape 21"/>
          <p:cNvSpPr/>
          <p:nvPr/>
        </p:nvSpPr>
        <p:spPr>
          <a:xfrm>
            <a:off x="6412353" y="3077394"/>
            <a:ext cx="1470608" cy="201420"/>
          </a:xfrm>
          <a:prstGeom prst="rect">
            <a:avLst/>
          </a:prstGeom>
          <a:solidFill>
            <a:srgbClr val="0D263E"/>
          </a:solidFill>
          <a:ln w="9144">
            <a:solidFill>
              <a:srgbClr val="2F6D89"/>
            </a:solidFill>
            <a:prstDash val="solid"/>
          </a:ln>
        </p:spPr>
      </p:sp>
      <p:sp>
        <p:nvSpPr>
          <p:cNvPr id="25" name="Text 22"/>
          <p:cNvSpPr/>
          <p:nvPr/>
        </p:nvSpPr>
        <p:spPr>
          <a:xfrm>
            <a:off x="6412353" y="3077394"/>
            <a:ext cx="1470608" cy="201420"/>
          </a:xfrm>
          <a:prstGeom prst="rect">
            <a:avLst/>
          </a:prstGeom>
          <a:noFill/>
          <a:ln/>
        </p:spPr>
        <p:txBody>
          <a:bodyPr wrap="square" lIns="85090" tIns="34036" rIns="85090" bIns="34036" rtlCol="0" anchor="t">
            <a:spAutoFit/>
          </a:bodyPr>
          <a:lstStyle/>
          <a:p>
            <a:pPr algn="l" indent="0" marL="0">
              <a:lnSpc>
                <a:spcPct val="112000"/>
              </a:lnSpc>
              <a:buNone/>
            </a:pPr>
            <a:r>
              <a:rPr lang="en-US" sz="650" b="1" dirty="0">
                <a:solidFill>
                  <a:srgbClr val="9FE8F1"/>
                </a:solidFill>
                <a:latin typeface="Arial" pitchFamily="34" charset="0"/>
                <a:ea typeface="Arial" pitchFamily="34" charset="-122"/>
                <a:cs typeface="Arial" pitchFamily="34" charset="-120"/>
              </a:rPr>
              <a:t>DETERMINISTIC PATTERNS</a:t>
            </a:r>
            <a:endParaRPr lang="en-US" sz="650" dirty="0"/>
          </a:p>
        </p:txBody>
      </p:sp>
      <p:sp>
        <p:nvSpPr>
          <p:cNvPr id="26" name="Text 23"/>
          <p:cNvSpPr/>
          <p:nvPr/>
        </p:nvSpPr>
        <p:spPr>
          <a:xfrm>
            <a:off x="585788" y="3389542"/>
            <a:ext cx="1961183"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Business-Rule Agent</a:t>
            </a:r>
            <a:endParaRPr lang="en-US" sz="900" dirty="0"/>
          </a:p>
        </p:txBody>
      </p:sp>
      <p:sp>
        <p:nvSpPr>
          <p:cNvPr id="27" name="Text 24"/>
          <p:cNvSpPr/>
          <p:nvPr/>
        </p:nvSpPr>
        <p:spPr>
          <a:xfrm>
            <a:off x="2546970" y="3389542"/>
            <a:ext cx="3751083"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50" dirty="0">
                <a:solidFill>
                  <a:srgbClr val="F8FAFC"/>
                </a:solidFill>
                <a:latin typeface="Arial" pitchFamily="34" charset="0"/>
                <a:ea typeface="Arial" pitchFamily="34" charset="-122"/>
                <a:cs typeface="Arial" pitchFamily="34" charset="-120"/>
              </a:rPr>
              <a:t>Describe conditions and business rules</a:t>
            </a:r>
            <a:endParaRPr lang="en-US" sz="950" dirty="0"/>
          </a:p>
        </p:txBody>
      </p:sp>
      <p:sp>
        <p:nvSpPr>
          <p:cNvPr id="28" name="Shape 25"/>
          <p:cNvSpPr/>
          <p:nvPr/>
        </p:nvSpPr>
        <p:spPr>
          <a:xfrm>
            <a:off x="6412353" y="3507414"/>
            <a:ext cx="1519721" cy="201420"/>
          </a:xfrm>
          <a:prstGeom prst="rect">
            <a:avLst/>
          </a:prstGeom>
          <a:solidFill>
            <a:srgbClr val="0D263E"/>
          </a:solidFill>
          <a:ln w="9144">
            <a:solidFill>
              <a:srgbClr val="9A6D36"/>
            </a:solidFill>
            <a:prstDash val="solid"/>
          </a:ln>
        </p:spPr>
      </p:sp>
      <p:sp>
        <p:nvSpPr>
          <p:cNvPr id="29" name="Text 26"/>
          <p:cNvSpPr/>
          <p:nvPr/>
        </p:nvSpPr>
        <p:spPr>
          <a:xfrm>
            <a:off x="6412353" y="3507414"/>
            <a:ext cx="1519721" cy="201420"/>
          </a:xfrm>
          <a:prstGeom prst="rect">
            <a:avLst/>
          </a:prstGeom>
          <a:noFill/>
          <a:ln/>
        </p:spPr>
        <p:txBody>
          <a:bodyPr wrap="square" lIns="85090" tIns="34036" rIns="85090" bIns="34036" rtlCol="0" anchor="t">
            <a:spAutoFit/>
          </a:bodyPr>
          <a:lstStyle/>
          <a:p>
            <a:pPr algn="l" indent="0" marL="0">
              <a:lnSpc>
                <a:spcPct val="112000"/>
              </a:lnSpc>
              <a:buNone/>
            </a:pPr>
            <a:r>
              <a:rPr lang="en-US" sz="650" b="1" dirty="0">
                <a:solidFill>
                  <a:srgbClr val="F7C98D"/>
                </a:solidFill>
                <a:latin typeface="Arial" pitchFamily="34" charset="0"/>
                <a:ea typeface="Arial" pitchFamily="34" charset="-122"/>
                <a:cs typeface="Arial" pitchFamily="34" charset="-120"/>
              </a:rPr>
              <a:t>GEMINI + LOCAL FALLBACK</a:t>
            </a:r>
            <a:endParaRPr lang="en-US" sz="650" dirty="0"/>
          </a:p>
        </p:txBody>
      </p:sp>
      <p:sp>
        <p:nvSpPr>
          <p:cNvPr id="30" name="Text 27"/>
          <p:cNvSpPr/>
          <p:nvPr/>
        </p:nvSpPr>
        <p:spPr>
          <a:xfrm>
            <a:off x="585788" y="3819562"/>
            <a:ext cx="1965703"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KDM Builder Agent</a:t>
            </a:r>
            <a:endParaRPr lang="en-US" sz="900" dirty="0"/>
          </a:p>
        </p:txBody>
      </p:sp>
      <p:sp>
        <p:nvSpPr>
          <p:cNvPr id="31" name="Text 28"/>
          <p:cNvSpPr/>
          <p:nvPr/>
        </p:nvSpPr>
        <p:spPr>
          <a:xfrm>
            <a:off x="2551491" y="3819562"/>
            <a:ext cx="3759789"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50" dirty="0">
                <a:solidFill>
                  <a:srgbClr val="F8FAFC"/>
                </a:solidFill>
                <a:latin typeface="Arial" pitchFamily="34" charset="0"/>
                <a:ea typeface="Arial" pitchFamily="34" charset="-122"/>
                <a:cs typeface="Arial" pitchFamily="34" charset="-120"/>
              </a:rPr>
              <a:t>Combine findings into a structured model</a:t>
            </a:r>
            <a:endParaRPr lang="en-US" sz="950" dirty="0"/>
          </a:p>
        </p:txBody>
      </p:sp>
      <p:sp>
        <p:nvSpPr>
          <p:cNvPr id="32" name="Shape 29"/>
          <p:cNvSpPr/>
          <p:nvPr/>
        </p:nvSpPr>
        <p:spPr>
          <a:xfrm>
            <a:off x="6425580" y="3937434"/>
            <a:ext cx="1480765" cy="201420"/>
          </a:xfrm>
          <a:prstGeom prst="rect">
            <a:avLst/>
          </a:prstGeom>
          <a:solidFill>
            <a:srgbClr val="0D263E"/>
          </a:solidFill>
          <a:ln w="9144">
            <a:solidFill>
              <a:srgbClr val="2F6D89"/>
            </a:solidFill>
            <a:prstDash val="solid"/>
          </a:ln>
        </p:spPr>
      </p:sp>
      <p:sp>
        <p:nvSpPr>
          <p:cNvPr id="33" name="Text 30"/>
          <p:cNvSpPr/>
          <p:nvPr/>
        </p:nvSpPr>
        <p:spPr>
          <a:xfrm>
            <a:off x="6425580" y="3937434"/>
            <a:ext cx="1480765" cy="201420"/>
          </a:xfrm>
          <a:prstGeom prst="rect">
            <a:avLst/>
          </a:prstGeom>
          <a:noFill/>
          <a:ln/>
        </p:spPr>
        <p:txBody>
          <a:bodyPr wrap="square" lIns="85090" tIns="34036" rIns="85090" bIns="34036" rtlCol="0" anchor="t">
            <a:spAutoFit/>
          </a:bodyPr>
          <a:lstStyle/>
          <a:p>
            <a:pPr algn="l" indent="0" marL="0">
              <a:lnSpc>
                <a:spcPct val="112000"/>
              </a:lnSpc>
              <a:buNone/>
            </a:pPr>
            <a:r>
              <a:rPr lang="en-US" sz="650" b="1" dirty="0">
                <a:solidFill>
                  <a:srgbClr val="9FE8F1"/>
                </a:solidFill>
                <a:latin typeface="Arial" pitchFamily="34" charset="0"/>
                <a:ea typeface="Arial" pitchFamily="34" charset="-122"/>
                <a:cs typeface="Arial" pitchFamily="34" charset="-120"/>
              </a:rPr>
              <a:t>PYDANTIC CONSTRUCTION</a:t>
            </a:r>
            <a:endParaRPr lang="en-US" sz="650" dirty="0"/>
          </a:p>
        </p:txBody>
      </p:sp>
      <p:sp>
        <p:nvSpPr>
          <p:cNvPr id="34" name="Text 31"/>
          <p:cNvSpPr/>
          <p:nvPr/>
        </p:nvSpPr>
        <p:spPr>
          <a:xfrm>
            <a:off x="585788" y="4249582"/>
            <a:ext cx="1965703"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Validator Agent</a:t>
            </a:r>
            <a:endParaRPr lang="en-US" sz="900" dirty="0"/>
          </a:p>
        </p:txBody>
      </p:sp>
      <p:sp>
        <p:nvSpPr>
          <p:cNvPr id="35" name="Text 32"/>
          <p:cNvSpPr/>
          <p:nvPr/>
        </p:nvSpPr>
        <p:spPr>
          <a:xfrm>
            <a:off x="2551491" y="4249582"/>
            <a:ext cx="3759789" cy="437164"/>
          </a:xfrm>
          <a:prstGeom prst="rect">
            <a:avLst/>
          </a:prstGeom>
          <a:noFill/>
          <a:ln/>
        </p:spPr>
        <p:txBody>
          <a:bodyPr wrap="square" lIns="136017" tIns="136017" rIns="136017" bIns="136017" rtlCol="0" anchor="ctr">
            <a:spAutoFit/>
          </a:bodyPr>
          <a:lstStyle/>
          <a:p>
            <a:pPr algn="l" indent="0" marL="0">
              <a:lnSpc>
                <a:spcPct val="112000"/>
              </a:lnSpc>
              <a:buNone/>
            </a:pPr>
            <a:r>
              <a:rPr lang="en-US" sz="950" dirty="0">
                <a:solidFill>
                  <a:srgbClr val="F8FAFC"/>
                </a:solidFill>
                <a:latin typeface="Arial" pitchFamily="34" charset="0"/>
                <a:ea typeface="Arial" pitchFamily="34" charset="-122"/>
                <a:cs typeface="Arial" pitchFamily="34" charset="-120"/>
              </a:rPr>
              <a:t>Detect duplicate and invalid elements</a:t>
            </a:r>
            <a:endParaRPr lang="en-US" sz="950" dirty="0"/>
          </a:p>
        </p:txBody>
      </p:sp>
      <p:sp>
        <p:nvSpPr>
          <p:cNvPr id="36" name="Shape 33"/>
          <p:cNvSpPr/>
          <p:nvPr/>
        </p:nvSpPr>
        <p:spPr>
          <a:xfrm>
            <a:off x="6425580" y="4367454"/>
            <a:ext cx="1368921" cy="201420"/>
          </a:xfrm>
          <a:prstGeom prst="rect">
            <a:avLst/>
          </a:prstGeom>
          <a:solidFill>
            <a:srgbClr val="0D263E"/>
          </a:solidFill>
          <a:ln w="9144">
            <a:solidFill>
              <a:srgbClr val="2F6D89"/>
            </a:solidFill>
            <a:prstDash val="solid"/>
          </a:ln>
        </p:spPr>
      </p:sp>
      <p:sp>
        <p:nvSpPr>
          <p:cNvPr id="37" name="Text 34"/>
          <p:cNvSpPr/>
          <p:nvPr/>
        </p:nvSpPr>
        <p:spPr>
          <a:xfrm>
            <a:off x="6425580" y="4367454"/>
            <a:ext cx="1368921" cy="201420"/>
          </a:xfrm>
          <a:prstGeom prst="rect">
            <a:avLst/>
          </a:prstGeom>
          <a:noFill/>
          <a:ln/>
        </p:spPr>
        <p:txBody>
          <a:bodyPr wrap="square" lIns="85090" tIns="34036" rIns="85090" bIns="34036" rtlCol="0" anchor="t">
            <a:spAutoFit/>
          </a:bodyPr>
          <a:lstStyle/>
          <a:p>
            <a:pPr algn="l" indent="0" marL="0">
              <a:lnSpc>
                <a:spcPct val="112000"/>
              </a:lnSpc>
              <a:buNone/>
            </a:pPr>
            <a:r>
              <a:rPr lang="en-US" sz="650" b="1" dirty="0">
                <a:solidFill>
                  <a:srgbClr val="9FE8F1"/>
                </a:solidFill>
                <a:latin typeface="Arial" pitchFamily="34" charset="0"/>
                <a:ea typeface="Arial" pitchFamily="34" charset="-122"/>
                <a:cs typeface="Arial" pitchFamily="34" charset="-120"/>
              </a:rPr>
              <a:t>DETERMINISTIC CHECKS</a:t>
            </a:r>
            <a:endParaRPr lang="en-US" sz="650" dirty="0"/>
          </a:p>
        </p:txBody>
      </p:sp>
      <p:sp>
        <p:nvSpPr>
          <p:cNvPr id="38" name="Text 35"/>
          <p:cNvSpPr/>
          <p:nvPr/>
        </p:nvSpPr>
        <p:spPr>
          <a:xfrm>
            <a:off x="585788" y="4832747"/>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39" name="Text 36"/>
          <p:cNvSpPr/>
          <p:nvPr/>
        </p:nvSpPr>
        <p:spPr>
          <a:xfrm>
            <a:off x="8440620" y="4832747"/>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06</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4287" y="-14287"/>
            <a:ext cx="9172575" cy="5143500"/>
          </a:xfrm>
          <a:prstGeom prst="rect">
            <a:avLst/>
          </a:prstGeom>
        </p:spPr>
      </p:pic>
      <p:sp>
        <p:nvSpPr>
          <p:cNvPr id="3" name="Text 0"/>
          <p:cNvSpPr/>
          <p:nvPr/>
        </p:nvSpPr>
        <p:spPr>
          <a:xfrm>
            <a:off x="557213" y="414338"/>
            <a:ext cx="8001000"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06 / TRANSFORMATION EXAMPLE</a:t>
            </a:r>
            <a:endParaRPr lang="en-US" sz="700" dirty="0"/>
          </a:p>
        </p:txBody>
      </p:sp>
      <p:sp>
        <p:nvSpPr>
          <p:cNvPr id="4" name="Text 1"/>
          <p:cNvSpPr/>
          <p:nvPr/>
        </p:nvSpPr>
        <p:spPr>
          <a:xfrm>
            <a:off x="557213" y="635794"/>
            <a:ext cx="8001000" cy="330008"/>
          </a:xfrm>
          <a:prstGeom prst="rect">
            <a:avLst/>
          </a:prstGeom>
          <a:noFill/>
          <a:ln/>
        </p:spPr>
        <p:txBody>
          <a:bodyPr wrap="none" lIns="0" tIns="0" rIns="0" bIns="0" rtlCol="0" anchor="t">
            <a:spAutoFit/>
          </a:bodyPr>
          <a:lstStyle/>
          <a:p>
            <a:pPr algn="l" indent="0" marL="0">
              <a:lnSpc>
                <a:spcPct val="88000"/>
              </a:lnSpc>
              <a:buNone/>
            </a:pPr>
            <a:r>
              <a:rPr lang="en-US" sz="2250" dirty="0">
                <a:solidFill>
                  <a:srgbClr val="F8FAFC"/>
                </a:solidFill>
                <a:latin typeface="Arial" pitchFamily="34" charset="0"/>
                <a:ea typeface="Arial" pitchFamily="34" charset="-122"/>
                <a:cs typeface="Arial" pitchFamily="34" charset="-120"/>
              </a:rPr>
              <a:t>A small COBOL example makes the transformation visible</a:t>
            </a:r>
            <a:endParaRPr lang="en-US" sz="2250" dirty="0"/>
          </a:p>
        </p:txBody>
      </p:sp>
      <p:sp>
        <p:nvSpPr>
          <p:cNvPr id="5" name="Text 2"/>
          <p:cNvSpPr/>
          <p:nvPr/>
        </p:nvSpPr>
        <p:spPr>
          <a:xfrm>
            <a:off x="557213" y="1251552"/>
            <a:ext cx="3786188" cy="114300"/>
          </a:xfrm>
          <a:prstGeom prst="rect">
            <a:avLst/>
          </a:prstGeom>
          <a:noFill/>
          <a:ln/>
        </p:spPr>
        <p:txBody>
          <a:bodyPr wrap="square" lIns="0" tIns="0" rIns="0" bIns="0" rtlCol="0" anchor="t">
            <a:spAutoFit/>
          </a:bodyPr>
          <a:lstStyle/>
          <a:p>
            <a:pPr algn="l" indent="0" marL="0">
              <a:buNone/>
            </a:pPr>
            <a:r>
              <a:rPr lang="en-US" sz="700" b="1" spc="2" kern="0" dirty="0">
                <a:solidFill>
                  <a:srgbClr val="F3B562"/>
                </a:solidFill>
                <a:latin typeface="Arial" pitchFamily="34" charset="0"/>
                <a:ea typeface="Arial" pitchFamily="34" charset="-122"/>
                <a:cs typeface="Arial" pitchFamily="34" charset="-120"/>
              </a:rPr>
              <a:t>SOURCE COBOL</a:t>
            </a:r>
            <a:endParaRPr lang="en-US" sz="700" dirty="0"/>
          </a:p>
        </p:txBody>
      </p:sp>
      <p:sp>
        <p:nvSpPr>
          <p:cNvPr id="6" name="Shape 3"/>
          <p:cNvSpPr/>
          <p:nvPr/>
        </p:nvSpPr>
        <p:spPr>
          <a:xfrm>
            <a:off x="557213" y="1508727"/>
            <a:ext cx="3786188" cy="2500313"/>
          </a:xfrm>
          <a:prstGeom prst="rect">
            <a:avLst/>
          </a:prstGeom>
          <a:solidFill>
            <a:srgbClr val="0D263E"/>
          </a:solidFill>
          <a:ln w="9144">
            <a:solidFill>
              <a:srgbClr val="24425A"/>
            </a:solidFill>
            <a:prstDash val="solid"/>
          </a:ln>
        </p:spPr>
      </p:sp>
      <p:sp>
        <p:nvSpPr>
          <p:cNvPr id="7" name="Text 4"/>
          <p:cNvSpPr/>
          <p:nvPr/>
        </p:nvSpPr>
        <p:spPr>
          <a:xfrm>
            <a:off x="557213" y="1508727"/>
            <a:ext cx="3786188" cy="2500313"/>
          </a:xfrm>
          <a:prstGeom prst="rect">
            <a:avLst/>
          </a:prstGeom>
          <a:noFill/>
          <a:ln/>
        </p:spPr>
        <p:txBody>
          <a:bodyPr wrap="square" lIns="212598" tIns="212598" rIns="212598" bIns="212598" rtlCol="0" anchor="t">
            <a:spAutoFit/>
          </a:bodyPr>
          <a:lstStyle/>
          <a:p>
            <a:pPr algn="l" indent="0" marL="0">
              <a:lnSpc>
                <a:spcPct val="120000"/>
              </a:lnSpc>
              <a:buNone/>
            </a:pPr>
            <a:r>
              <a:rPr lang="en-US" sz="950" dirty="0">
                <a:solidFill>
                  <a:srgbClr val="9FE8F1"/>
                </a:solidFill>
                <a:latin typeface="Courier New" pitchFamily="34" charset="0"/>
                <a:ea typeface="Courier New" pitchFamily="34" charset="-122"/>
                <a:cs typeface="Courier New" pitchFamily="34" charset="-120"/>
              </a:rPr>
              <a:t>01 WS-COUNT PIC 9(3) VALUE 1.</a:t>
            </a:r>
            <a:r>
              <a:rPr lang="en-US" sz="950" dirty="0">
                <a:solidFill>
                  <a:srgbClr val="9FE8F1"/>
                </a:solidFill>
                <a:latin typeface="Courier New" pitchFamily="34" charset="0"/>
                <a:ea typeface="Courier New" pitchFamily="34" charset="-122"/>
                <a:cs typeface="Courier New" pitchFamily="34" charset="-120"/>
              </a:rPr>
              <a:t>
</a:t>
            </a:r>
            <a:r>
              <a:rPr lang="en-US" sz="950" dirty="0">
                <a:solidFill>
                  <a:srgbClr val="9FE8F1"/>
                </a:solidFill>
                <a:latin typeface="Courier New" pitchFamily="34" charset="0"/>
                <a:ea typeface="Courier New" pitchFamily="34" charset="-122"/>
                <a:cs typeface="Courier New" pitchFamily="34" charset="-120"/>
              </a:rPr>
              <a:t> IF WS-COUNT &gt; 0</a:t>
            </a:r>
            <a:r>
              <a:rPr lang="en-US" sz="950" dirty="0">
                <a:solidFill>
                  <a:srgbClr val="9FE8F1"/>
                </a:solidFill>
                <a:latin typeface="Courier New" pitchFamily="34" charset="0"/>
                <a:ea typeface="Courier New" pitchFamily="34" charset="-122"/>
                <a:cs typeface="Courier New" pitchFamily="34" charset="-120"/>
              </a:rPr>
              <a:t>
</a:t>
            </a:r>
            <a:r>
              <a:rPr lang="en-US" sz="950" dirty="0">
                <a:solidFill>
                  <a:srgbClr val="9FE8F1"/>
                </a:solidFill>
                <a:latin typeface="Courier New" pitchFamily="34" charset="0"/>
                <a:ea typeface="Courier New" pitchFamily="34" charset="-122"/>
                <a:cs typeface="Courier New" pitchFamily="34" charset="-120"/>
              </a:rPr>
              <a:t>DISPLAY 'COUNT IS POSITIVE'</a:t>
            </a:r>
            <a:r>
              <a:rPr lang="en-US" sz="950" dirty="0">
                <a:solidFill>
                  <a:srgbClr val="9FE8F1"/>
                </a:solidFill>
                <a:latin typeface="Courier New" pitchFamily="34" charset="0"/>
                <a:ea typeface="Courier New" pitchFamily="34" charset="-122"/>
                <a:cs typeface="Courier New" pitchFamily="34" charset="-120"/>
              </a:rPr>
              <a:t>
</a:t>
            </a:r>
            <a:r>
              <a:rPr lang="en-US" sz="950" dirty="0">
                <a:solidFill>
                  <a:srgbClr val="9FE8F1"/>
                </a:solidFill>
                <a:latin typeface="Courier New" pitchFamily="34" charset="0"/>
                <a:ea typeface="Courier New" pitchFamily="34" charset="-122"/>
                <a:cs typeface="Courier New" pitchFamily="34" charset="-120"/>
              </a:rPr>
              <a:t>ELSE</a:t>
            </a:r>
            <a:r>
              <a:rPr lang="en-US" sz="950" dirty="0">
                <a:solidFill>
                  <a:srgbClr val="9FE8F1"/>
                </a:solidFill>
                <a:latin typeface="Courier New" pitchFamily="34" charset="0"/>
                <a:ea typeface="Courier New" pitchFamily="34" charset="-122"/>
                <a:cs typeface="Courier New" pitchFamily="34" charset="-120"/>
              </a:rPr>
              <a:t>
</a:t>
            </a:r>
            <a:r>
              <a:rPr lang="en-US" sz="950" dirty="0">
                <a:solidFill>
                  <a:srgbClr val="9FE8F1"/>
                </a:solidFill>
                <a:latin typeface="Courier New" pitchFamily="34" charset="0"/>
                <a:ea typeface="Courier New" pitchFamily="34" charset="-122"/>
                <a:cs typeface="Courier New" pitchFamily="34" charset="-120"/>
              </a:rPr>
              <a:t>DISPLAY 'COUNT IS ZERO'</a:t>
            </a:r>
            <a:r>
              <a:rPr lang="en-US" sz="950" dirty="0">
                <a:solidFill>
                  <a:srgbClr val="9FE8F1"/>
                </a:solidFill>
                <a:latin typeface="Courier New" pitchFamily="34" charset="0"/>
                <a:ea typeface="Courier New" pitchFamily="34" charset="-122"/>
                <a:cs typeface="Courier New" pitchFamily="34" charset="-120"/>
              </a:rPr>
              <a:t>
</a:t>
            </a:r>
            <a:r>
              <a:rPr lang="en-US" sz="950" dirty="0">
                <a:solidFill>
                  <a:srgbClr val="9FE8F1"/>
                </a:solidFill>
                <a:latin typeface="Courier New" pitchFamily="34" charset="0"/>
                <a:ea typeface="Courier New" pitchFamily="34" charset="-122"/>
                <a:cs typeface="Courier New" pitchFamily="34" charset="-120"/>
              </a:rPr>
              <a:t>END-IF.</a:t>
            </a:r>
            <a:r>
              <a:rPr lang="en-US" sz="950" dirty="0">
                <a:solidFill>
                  <a:srgbClr val="9FE8F1"/>
                </a:solidFill>
                <a:latin typeface="Courier New" pitchFamily="34" charset="0"/>
                <a:ea typeface="Courier New" pitchFamily="34" charset="-122"/>
                <a:cs typeface="Courier New" pitchFamily="34" charset="-120"/>
              </a:rPr>
              <a:t>
</a:t>
            </a:r>
            <a:r>
              <a:rPr lang="en-US" sz="950" dirty="0">
                <a:solidFill>
                  <a:srgbClr val="9FE8F1"/>
                </a:solidFill>
                <a:latin typeface="Courier New" pitchFamily="34" charset="0"/>
                <a:ea typeface="Courier New" pitchFamily="34" charset="-122"/>
                <a:cs typeface="Courier New" pitchFamily="34" charset="-120"/>
              </a:rPr>
              <a:t>STOP RUN.</a:t>
            </a:r>
            <a:endParaRPr lang="en-US" sz="950" dirty="0"/>
          </a:p>
        </p:txBody>
      </p:sp>
      <p:sp>
        <p:nvSpPr>
          <p:cNvPr id="8" name="Text 5"/>
          <p:cNvSpPr/>
          <p:nvPr/>
        </p:nvSpPr>
        <p:spPr>
          <a:xfrm>
            <a:off x="4772025" y="1251552"/>
            <a:ext cx="3786188" cy="114300"/>
          </a:xfrm>
          <a:prstGeom prst="rect">
            <a:avLst/>
          </a:prstGeom>
          <a:noFill/>
          <a:ln/>
        </p:spPr>
        <p:txBody>
          <a:bodyPr wrap="square" lIns="0" tIns="0" rIns="0" bIns="0" rtlCol="0" anchor="t">
            <a:spAutoFit/>
          </a:bodyPr>
          <a:lstStyle/>
          <a:p>
            <a:pPr algn="l" indent="0" marL="0">
              <a:buNone/>
            </a:pPr>
            <a:r>
              <a:rPr lang="en-US" sz="700" b="1" spc="2" kern="0" dirty="0">
                <a:solidFill>
                  <a:srgbClr val="F3B562"/>
                </a:solidFill>
                <a:latin typeface="Arial" pitchFamily="34" charset="0"/>
                <a:ea typeface="Arial" pitchFamily="34" charset="-122"/>
                <a:cs typeface="Arial" pitchFamily="34" charset="-120"/>
              </a:rPr>
              <a:t>RECOVERED EVIDENCE</a:t>
            </a:r>
            <a:endParaRPr lang="en-US" sz="700" dirty="0"/>
          </a:p>
        </p:txBody>
      </p:sp>
      <p:sp>
        <p:nvSpPr>
          <p:cNvPr id="9" name="Text 6"/>
          <p:cNvSpPr/>
          <p:nvPr/>
        </p:nvSpPr>
        <p:spPr>
          <a:xfrm>
            <a:off x="4772025" y="1623027"/>
            <a:ext cx="3786188" cy="114300"/>
          </a:xfrm>
          <a:prstGeom prst="rect">
            <a:avLst/>
          </a:prstGeom>
          <a:noFill/>
          <a:ln/>
        </p:spPr>
        <p:txBody>
          <a:bodyPr wrap="square" lIns="0" tIns="0" rIns="0" bIns="0" rtlCol="0" anchor="t">
            <a:spAutoFit/>
          </a:bodyPr>
          <a:lstStyle/>
          <a:p>
            <a:pPr algn="l" indent="0" marL="0">
              <a:buNone/>
            </a:pPr>
            <a:r>
              <a:rPr lang="en-US" sz="700" b="1" spc="1" kern="0" dirty="0">
                <a:solidFill>
                  <a:srgbClr val="63D5E8"/>
                </a:solidFill>
                <a:latin typeface="Arial" pitchFamily="34" charset="0"/>
                <a:ea typeface="Arial" pitchFamily="34" charset="-122"/>
                <a:cs typeface="Arial" pitchFamily="34" charset="-120"/>
              </a:rPr>
              <a:t>DATA ITEM</a:t>
            </a:r>
            <a:endParaRPr lang="en-US" sz="700" dirty="0"/>
          </a:p>
        </p:txBody>
      </p:sp>
      <p:sp>
        <p:nvSpPr>
          <p:cNvPr id="10" name="Text 7"/>
          <p:cNvSpPr/>
          <p:nvPr/>
        </p:nvSpPr>
        <p:spPr>
          <a:xfrm>
            <a:off x="4772025" y="1773045"/>
            <a:ext cx="3786188" cy="150019"/>
          </a:xfrm>
          <a:prstGeom prst="rect">
            <a:avLst/>
          </a:prstGeom>
          <a:noFill/>
          <a:ln/>
        </p:spPr>
        <p:txBody>
          <a:bodyPr wrap="square" lIns="0" tIns="0" rIns="0" bIns="0" rtlCol="0" anchor="t">
            <a:spAutoFit/>
          </a:bodyPr>
          <a:lstStyle/>
          <a:p>
            <a:pPr algn="l" indent="0" marL="0">
              <a:buNone/>
            </a:pPr>
            <a:r>
              <a:rPr lang="en-US" sz="950" dirty="0">
                <a:solidFill>
                  <a:srgbClr val="B5C4D6"/>
                </a:solidFill>
                <a:latin typeface="Arial" pitchFamily="34" charset="0"/>
                <a:ea typeface="Arial" pitchFamily="34" charset="-122"/>
                <a:cs typeface="Arial" pitchFamily="34" charset="-120"/>
              </a:rPr>
              <a:t>WS-COUNT is identified as a storable data item.</a:t>
            </a:r>
            <a:endParaRPr lang="en-US" sz="950" dirty="0"/>
          </a:p>
        </p:txBody>
      </p:sp>
      <p:sp>
        <p:nvSpPr>
          <p:cNvPr id="11" name="Text 8"/>
          <p:cNvSpPr/>
          <p:nvPr/>
        </p:nvSpPr>
        <p:spPr>
          <a:xfrm>
            <a:off x="4772025" y="2144520"/>
            <a:ext cx="3786188" cy="114300"/>
          </a:xfrm>
          <a:prstGeom prst="rect">
            <a:avLst/>
          </a:prstGeom>
          <a:noFill/>
          <a:ln/>
        </p:spPr>
        <p:txBody>
          <a:bodyPr wrap="square" lIns="0" tIns="0" rIns="0" bIns="0" rtlCol="0" anchor="t">
            <a:spAutoFit/>
          </a:bodyPr>
          <a:lstStyle/>
          <a:p>
            <a:pPr algn="l" indent="0" marL="0">
              <a:buNone/>
            </a:pPr>
            <a:r>
              <a:rPr lang="en-US" sz="700" b="1" spc="1" kern="0" dirty="0">
                <a:solidFill>
                  <a:srgbClr val="63D5E8"/>
                </a:solidFill>
                <a:latin typeface="Arial" pitchFamily="34" charset="0"/>
                <a:ea typeface="Arial" pitchFamily="34" charset="-122"/>
                <a:cs typeface="Arial" pitchFamily="34" charset="-120"/>
              </a:rPr>
              <a:t>CONTROL FLOW</a:t>
            </a:r>
            <a:endParaRPr lang="en-US" sz="700" dirty="0"/>
          </a:p>
        </p:txBody>
      </p:sp>
      <p:sp>
        <p:nvSpPr>
          <p:cNvPr id="12" name="Text 9"/>
          <p:cNvSpPr/>
          <p:nvPr/>
        </p:nvSpPr>
        <p:spPr>
          <a:xfrm>
            <a:off x="4772025" y="2294539"/>
            <a:ext cx="3786188" cy="150019"/>
          </a:xfrm>
          <a:prstGeom prst="rect">
            <a:avLst/>
          </a:prstGeom>
          <a:noFill/>
          <a:ln/>
        </p:spPr>
        <p:txBody>
          <a:bodyPr wrap="square" lIns="0" tIns="0" rIns="0" bIns="0" rtlCol="0" anchor="t">
            <a:spAutoFit/>
          </a:bodyPr>
          <a:lstStyle/>
          <a:p>
            <a:pPr algn="l" indent="0" marL="0">
              <a:buNone/>
            </a:pPr>
            <a:r>
              <a:rPr lang="en-US" sz="950" dirty="0">
                <a:solidFill>
                  <a:srgbClr val="B5C4D6"/>
                </a:solidFill>
                <a:latin typeface="Arial" pitchFamily="34" charset="0"/>
                <a:ea typeface="Arial" pitchFamily="34" charset="-122"/>
                <a:cs typeface="Arial" pitchFamily="34" charset="-120"/>
              </a:rPr>
              <a:t>MAIN-LINE contains a conditional branch logic.</a:t>
            </a:r>
            <a:endParaRPr lang="en-US" sz="950" dirty="0"/>
          </a:p>
        </p:txBody>
      </p:sp>
      <p:sp>
        <p:nvSpPr>
          <p:cNvPr id="13" name="Text 10"/>
          <p:cNvSpPr/>
          <p:nvPr/>
        </p:nvSpPr>
        <p:spPr>
          <a:xfrm>
            <a:off x="4772025" y="2666014"/>
            <a:ext cx="3786188" cy="114300"/>
          </a:xfrm>
          <a:prstGeom prst="rect">
            <a:avLst/>
          </a:prstGeom>
          <a:noFill/>
          <a:ln/>
        </p:spPr>
        <p:txBody>
          <a:bodyPr wrap="square" lIns="0" tIns="0" rIns="0" bIns="0" rtlCol="0" anchor="t">
            <a:spAutoFit/>
          </a:bodyPr>
          <a:lstStyle/>
          <a:p>
            <a:pPr algn="l" indent="0" marL="0">
              <a:buNone/>
            </a:pPr>
            <a:r>
              <a:rPr lang="en-US" sz="700" b="1" spc="1" kern="0" dirty="0">
                <a:solidFill>
                  <a:srgbClr val="63D5E8"/>
                </a:solidFill>
                <a:latin typeface="Arial" pitchFamily="34" charset="0"/>
                <a:ea typeface="Arial" pitchFamily="34" charset="-122"/>
                <a:cs typeface="Arial" pitchFamily="34" charset="-120"/>
              </a:rPr>
              <a:t>DATA INTERACTION</a:t>
            </a:r>
            <a:endParaRPr lang="en-US" sz="700" dirty="0"/>
          </a:p>
        </p:txBody>
      </p:sp>
      <p:sp>
        <p:nvSpPr>
          <p:cNvPr id="14" name="Text 11"/>
          <p:cNvSpPr/>
          <p:nvPr/>
        </p:nvSpPr>
        <p:spPr>
          <a:xfrm>
            <a:off x="4772025" y="2816033"/>
            <a:ext cx="3786188" cy="150019"/>
          </a:xfrm>
          <a:prstGeom prst="rect">
            <a:avLst/>
          </a:prstGeom>
          <a:noFill/>
          <a:ln/>
        </p:spPr>
        <p:txBody>
          <a:bodyPr wrap="square" lIns="0" tIns="0" rIns="0" bIns="0" rtlCol="0" anchor="t">
            <a:spAutoFit/>
          </a:bodyPr>
          <a:lstStyle/>
          <a:p>
            <a:pPr algn="l" indent="0" marL="0">
              <a:buNone/>
            </a:pPr>
            <a:r>
              <a:rPr lang="en-US" sz="950" dirty="0">
                <a:solidFill>
                  <a:srgbClr val="B5C4D6"/>
                </a:solidFill>
                <a:latin typeface="Arial" pitchFamily="34" charset="0"/>
                <a:ea typeface="Arial" pitchFamily="34" charset="-122"/>
                <a:cs typeface="Arial" pitchFamily="34" charset="-120"/>
              </a:rPr>
              <a:t>The condition reads WS-COUNT; DISPLAY writes output.</a:t>
            </a:r>
            <a:endParaRPr lang="en-US" sz="950" dirty="0"/>
          </a:p>
        </p:txBody>
      </p:sp>
      <p:sp>
        <p:nvSpPr>
          <p:cNvPr id="15" name="Text 12"/>
          <p:cNvSpPr/>
          <p:nvPr/>
        </p:nvSpPr>
        <p:spPr>
          <a:xfrm>
            <a:off x="4772025" y="3187508"/>
            <a:ext cx="3786188" cy="114300"/>
          </a:xfrm>
          <a:prstGeom prst="rect">
            <a:avLst/>
          </a:prstGeom>
          <a:noFill/>
          <a:ln/>
        </p:spPr>
        <p:txBody>
          <a:bodyPr wrap="square" lIns="0" tIns="0" rIns="0" bIns="0" rtlCol="0" anchor="t">
            <a:spAutoFit/>
          </a:bodyPr>
          <a:lstStyle/>
          <a:p>
            <a:pPr algn="l" indent="0" marL="0">
              <a:buNone/>
            </a:pPr>
            <a:r>
              <a:rPr lang="en-US" sz="700" b="1" spc="1" kern="0" dirty="0">
                <a:solidFill>
                  <a:srgbClr val="63D5E8"/>
                </a:solidFill>
                <a:latin typeface="Arial" pitchFamily="34" charset="0"/>
                <a:ea typeface="Arial" pitchFamily="34" charset="-122"/>
                <a:cs typeface="Arial" pitchFamily="34" charset="-120"/>
              </a:rPr>
              <a:t>BUSINESS RULE</a:t>
            </a:r>
            <a:endParaRPr lang="en-US" sz="700" dirty="0"/>
          </a:p>
        </p:txBody>
      </p:sp>
      <p:sp>
        <p:nvSpPr>
          <p:cNvPr id="16" name="Text 13"/>
          <p:cNvSpPr/>
          <p:nvPr/>
        </p:nvSpPr>
        <p:spPr>
          <a:xfrm>
            <a:off x="4772025" y="3337527"/>
            <a:ext cx="3786188" cy="300038"/>
          </a:xfrm>
          <a:prstGeom prst="rect">
            <a:avLst/>
          </a:prstGeom>
          <a:noFill/>
          <a:ln/>
        </p:spPr>
        <p:txBody>
          <a:bodyPr wrap="square" lIns="0" tIns="0" rIns="0" bIns="0" rtlCol="0" anchor="t">
            <a:spAutoFit/>
          </a:bodyPr>
          <a:lstStyle/>
          <a:p>
            <a:pPr algn="l" indent="0" marL="0">
              <a:buNone/>
            </a:pPr>
            <a:r>
              <a:rPr lang="en-US" sz="950" dirty="0">
                <a:solidFill>
                  <a:srgbClr val="B5C4D6"/>
                </a:solidFill>
                <a:latin typeface="Arial" pitchFamily="34" charset="0"/>
                <a:ea typeface="Arial" pitchFamily="34" charset="-122"/>
                <a:cs typeface="Arial" pitchFamily="34" charset="-120"/>
              </a:rPr>
              <a:t>Candidate rule: "Execute conditional processing when WS-COUNT &gt; 0."</a:t>
            </a:r>
            <a:endParaRPr lang="en-US" sz="950" dirty="0"/>
          </a:p>
        </p:txBody>
      </p:sp>
      <p:sp>
        <p:nvSpPr>
          <p:cNvPr id="17" name="Text 14"/>
          <p:cNvSpPr/>
          <p:nvPr/>
        </p:nvSpPr>
        <p:spPr>
          <a:xfrm>
            <a:off x="557213" y="4818459"/>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18" name="Text 15"/>
          <p:cNvSpPr/>
          <p:nvPr/>
        </p:nvSpPr>
        <p:spPr>
          <a:xfrm>
            <a:off x="8440620" y="4818459"/>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07</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14325"/>
            <a:ext cx="8001000"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07 / ANALYSIS OUTPUT</a:t>
            </a:r>
            <a:endParaRPr lang="en-US" sz="700" dirty="0"/>
          </a:p>
        </p:txBody>
      </p:sp>
      <p:sp>
        <p:nvSpPr>
          <p:cNvPr id="4" name="Text 1"/>
          <p:cNvSpPr/>
          <p:nvPr/>
        </p:nvSpPr>
        <p:spPr>
          <a:xfrm>
            <a:off x="571500" y="535781"/>
            <a:ext cx="8001000" cy="330008"/>
          </a:xfrm>
          <a:prstGeom prst="rect">
            <a:avLst/>
          </a:prstGeom>
          <a:noFill/>
          <a:ln/>
        </p:spPr>
        <p:txBody>
          <a:bodyPr wrap="none" lIns="0" tIns="0" rIns="0" bIns="0" rtlCol="0" anchor="t">
            <a:spAutoFit/>
          </a:bodyPr>
          <a:lstStyle/>
          <a:p>
            <a:pPr algn="l" indent="0" marL="0">
              <a:lnSpc>
                <a:spcPct val="88000"/>
              </a:lnSpc>
              <a:buNone/>
            </a:pPr>
            <a:r>
              <a:rPr lang="en-US" sz="2250" dirty="0">
                <a:solidFill>
                  <a:srgbClr val="F8FAFC"/>
                </a:solidFill>
                <a:latin typeface="Arial" pitchFamily="34" charset="0"/>
                <a:ea typeface="Arial" pitchFamily="34" charset="-122"/>
                <a:cs typeface="Arial" pitchFamily="34" charset="-120"/>
              </a:rPr>
              <a:t>Intermediate findings remain inspectable before serialization</a:t>
            </a:r>
            <a:endParaRPr lang="en-US" sz="2250" dirty="0"/>
          </a:p>
        </p:txBody>
      </p:sp>
      <p:sp>
        <p:nvSpPr>
          <p:cNvPr id="5" name="Shape 2"/>
          <p:cNvSpPr/>
          <p:nvPr/>
        </p:nvSpPr>
        <p:spPr>
          <a:xfrm>
            <a:off x="571500" y="1108677"/>
            <a:ext cx="2581238" cy="1428750"/>
          </a:xfrm>
          <a:prstGeom prst="rect">
            <a:avLst/>
          </a:prstGeom>
          <a:solidFill>
            <a:srgbClr val="0D263E"/>
          </a:solidFill>
          <a:ln w="9144">
            <a:solidFill>
              <a:srgbClr val="24425A"/>
            </a:solidFill>
            <a:prstDash val="solid"/>
          </a:ln>
        </p:spPr>
      </p:sp>
      <p:sp>
        <p:nvSpPr>
          <p:cNvPr id="6" name="Text 3"/>
          <p:cNvSpPr/>
          <p:nvPr/>
        </p:nvSpPr>
        <p:spPr>
          <a:xfrm>
            <a:off x="571500" y="1346485"/>
            <a:ext cx="2581238" cy="110728"/>
          </a:xfrm>
          <a:prstGeom prst="rect">
            <a:avLst/>
          </a:prstGeom>
          <a:noFill/>
          <a:ln/>
        </p:spPr>
        <p:txBody>
          <a:bodyPr wrap="square" lIns="136017" tIns="0" rIns="136017" bIns="0" rtlCol="0" anchor="t">
            <a:spAutoFit/>
          </a:bodyPr>
          <a:lstStyle/>
          <a:p>
            <a:pPr algn="l" indent="0" marL="0">
              <a:buNone/>
            </a:pPr>
            <a:r>
              <a:rPr lang="en-US" sz="650" b="1" spc="1" kern="0" dirty="0">
                <a:solidFill>
                  <a:srgbClr val="F3B562"/>
                </a:solidFill>
                <a:latin typeface="Arial" pitchFamily="34" charset="0"/>
                <a:ea typeface="Arial" pitchFamily="34" charset="-122"/>
                <a:cs typeface="Arial" pitchFamily="34" charset="-120"/>
              </a:rPr>
              <a:t>STRUCTURE AGENT</a:t>
            </a:r>
            <a:endParaRPr lang="en-US" sz="650" dirty="0"/>
          </a:p>
        </p:txBody>
      </p:sp>
      <p:sp>
        <p:nvSpPr>
          <p:cNvPr id="7" name="Text 4"/>
          <p:cNvSpPr/>
          <p:nvPr/>
        </p:nvSpPr>
        <p:spPr>
          <a:xfrm>
            <a:off x="571500" y="1542938"/>
            <a:ext cx="2581238" cy="450056"/>
          </a:xfrm>
          <a:prstGeom prst="rect">
            <a:avLst/>
          </a:prstGeom>
          <a:noFill/>
          <a:ln/>
        </p:spPr>
        <p:txBody>
          <a:bodyPr wrap="square" lIns="136017" tIns="0" rIns="136017" bIns="0" rtlCol="0" anchor="t">
            <a:spAutoFit/>
          </a:bodyPr>
          <a:lstStyle/>
          <a:p>
            <a:pPr algn="l" indent="0" marL="0">
              <a:lnSpc>
                <a:spcPct val="112000"/>
              </a:lnSpc>
              <a:buNone/>
            </a:pPr>
            <a:r>
              <a:rPr lang="en-US" sz="800" dirty="0">
                <a:solidFill>
                  <a:srgbClr val="9FE8F1"/>
                </a:solidFill>
                <a:latin typeface="Courier New" pitchFamily="34" charset="0"/>
                <a:ea typeface="Courier New" pitchFamily="34" charset="-122"/>
                <a:cs typeface="Courier New" pitchFamily="34" charset="-120"/>
              </a:rPr>
              <a:t>MAIN-LINE -&gt; CallableUnit</a:t>
            </a:r>
            <a:r>
              <a:rPr lang="en-US" sz="800" dirty="0">
                <a:solidFill>
                  <a:srgbClr val="9FE8F1"/>
                </a:solidFill>
                <a:latin typeface="Courier New" pitchFamily="34" charset="0"/>
                <a:ea typeface="Courier New" pitchFamily="34" charset="-122"/>
                <a:cs typeface="Courier New" pitchFamily="34" charset="-120"/>
              </a:rPr>
              <a:t>
</a:t>
            </a:r>
            <a:r>
              <a:rPr lang="en-US" sz="800" dirty="0">
                <a:solidFill>
                  <a:srgbClr val="9FE8F1"/>
                </a:solidFill>
                <a:latin typeface="Courier New" pitchFamily="34" charset="0"/>
                <a:ea typeface="Courier New" pitchFamily="34" charset="-122"/>
                <a:cs typeface="Courier New" pitchFamily="34" charset="-120"/>
              </a:rPr>
              <a:t>PARAGRAPH-1 -&gt; CallableUnit</a:t>
            </a:r>
            <a:r>
              <a:rPr lang="en-US" sz="800" dirty="0">
                <a:solidFill>
                  <a:srgbClr val="9FE8F1"/>
                </a:solidFill>
                <a:latin typeface="Courier New" pitchFamily="34" charset="0"/>
                <a:ea typeface="Courier New" pitchFamily="34" charset="-122"/>
                <a:cs typeface="Courier New" pitchFamily="34" charset="-120"/>
              </a:rPr>
              <a:t>
</a:t>
            </a:r>
            <a:r>
              <a:rPr lang="en-US" sz="800" dirty="0">
                <a:solidFill>
                  <a:srgbClr val="9FE8F1"/>
                </a:solidFill>
                <a:latin typeface="Courier New" pitchFamily="34" charset="0"/>
                <a:ea typeface="Courier New" pitchFamily="34" charset="-122"/>
                <a:cs typeface="Courier New" pitchFamily="34" charset="-120"/>
              </a:rPr>
              <a:t>WS-COUNT -&gt; StorableUnit</a:t>
            </a:r>
            <a:endParaRPr lang="en-US" sz="800" dirty="0"/>
          </a:p>
        </p:txBody>
      </p:sp>
      <p:sp>
        <p:nvSpPr>
          <p:cNvPr id="8" name="Shape 5"/>
          <p:cNvSpPr/>
          <p:nvPr/>
        </p:nvSpPr>
        <p:spPr>
          <a:xfrm>
            <a:off x="3281325" y="1108677"/>
            <a:ext cx="2581294" cy="1428750"/>
          </a:xfrm>
          <a:prstGeom prst="rect">
            <a:avLst/>
          </a:prstGeom>
          <a:solidFill>
            <a:srgbClr val="0D263E"/>
          </a:solidFill>
          <a:ln w="9144">
            <a:solidFill>
              <a:srgbClr val="24425A"/>
            </a:solidFill>
            <a:prstDash val="solid"/>
          </a:ln>
        </p:spPr>
      </p:sp>
      <p:sp>
        <p:nvSpPr>
          <p:cNvPr id="9" name="Text 6"/>
          <p:cNvSpPr/>
          <p:nvPr/>
        </p:nvSpPr>
        <p:spPr>
          <a:xfrm>
            <a:off x="3281325" y="1346485"/>
            <a:ext cx="2581294" cy="110728"/>
          </a:xfrm>
          <a:prstGeom prst="rect">
            <a:avLst/>
          </a:prstGeom>
          <a:noFill/>
          <a:ln/>
        </p:spPr>
        <p:txBody>
          <a:bodyPr wrap="square" lIns="136017" tIns="0" rIns="136017" bIns="0" rtlCol="0" anchor="t">
            <a:spAutoFit/>
          </a:bodyPr>
          <a:lstStyle/>
          <a:p>
            <a:pPr algn="l" indent="0" marL="0">
              <a:buNone/>
            </a:pPr>
            <a:r>
              <a:rPr lang="en-US" sz="650" b="1" spc="1" kern="0" dirty="0">
                <a:solidFill>
                  <a:srgbClr val="F3B562"/>
                </a:solidFill>
                <a:latin typeface="Arial" pitchFamily="34" charset="0"/>
                <a:ea typeface="Arial" pitchFamily="34" charset="-122"/>
                <a:cs typeface="Arial" pitchFamily="34" charset="-120"/>
              </a:rPr>
              <a:t>DATA-FLOW AGENT</a:t>
            </a:r>
            <a:endParaRPr lang="en-US" sz="650" dirty="0"/>
          </a:p>
        </p:txBody>
      </p:sp>
      <p:sp>
        <p:nvSpPr>
          <p:cNvPr id="10" name="Text 7"/>
          <p:cNvSpPr/>
          <p:nvPr/>
        </p:nvSpPr>
        <p:spPr>
          <a:xfrm>
            <a:off x="3281325" y="1542938"/>
            <a:ext cx="2581294" cy="450056"/>
          </a:xfrm>
          <a:prstGeom prst="rect">
            <a:avLst/>
          </a:prstGeom>
          <a:noFill/>
          <a:ln/>
        </p:spPr>
        <p:txBody>
          <a:bodyPr wrap="square" lIns="136017" tIns="0" rIns="136017" bIns="0" rtlCol="0" anchor="t">
            <a:spAutoFit/>
          </a:bodyPr>
          <a:lstStyle/>
          <a:p>
            <a:pPr algn="l" indent="0" marL="0">
              <a:lnSpc>
                <a:spcPct val="112000"/>
              </a:lnSpc>
              <a:buNone/>
            </a:pPr>
            <a:r>
              <a:rPr lang="en-US" sz="800" dirty="0">
                <a:solidFill>
                  <a:srgbClr val="9FE8F1"/>
                </a:solidFill>
                <a:latin typeface="Courier New" pitchFamily="34" charset="0"/>
                <a:ea typeface="Courier New" pitchFamily="34" charset="-122"/>
                <a:cs typeface="Courier New" pitchFamily="34" charset="-120"/>
              </a:rPr>
              <a:t>MAIN-LINE reads WS-COUNT</a:t>
            </a:r>
            <a:r>
              <a:rPr lang="en-US" sz="800" dirty="0">
                <a:solidFill>
                  <a:srgbClr val="9FE8F1"/>
                </a:solidFill>
                <a:latin typeface="Courier New" pitchFamily="34" charset="0"/>
                <a:ea typeface="Courier New" pitchFamily="34" charset="-122"/>
                <a:cs typeface="Courier New" pitchFamily="34" charset="-120"/>
              </a:rPr>
              <a:t>
</a:t>
            </a:r>
            <a:r>
              <a:rPr lang="en-US" sz="800" dirty="0">
                <a:solidFill>
                  <a:srgbClr val="9FE8F1"/>
                </a:solidFill>
                <a:latin typeface="Courier New" pitchFamily="34" charset="0"/>
                <a:ea typeface="Courier New" pitchFamily="34" charset="-122"/>
                <a:cs typeface="Courier New" pitchFamily="34" charset="-120"/>
              </a:rPr>
              <a:t>MAIN-LINE writes DISPLAY</a:t>
            </a:r>
            <a:r>
              <a:rPr lang="en-US" sz="800" dirty="0">
                <a:solidFill>
                  <a:srgbClr val="9FE8F1"/>
                </a:solidFill>
                <a:latin typeface="Courier New" pitchFamily="34" charset="0"/>
                <a:ea typeface="Courier New" pitchFamily="34" charset="-122"/>
                <a:cs typeface="Courier New" pitchFamily="34" charset="-120"/>
              </a:rPr>
              <a:t>
</a:t>
            </a:r>
            <a:r>
              <a:rPr lang="en-US" sz="800" dirty="0">
                <a:solidFill>
                  <a:srgbClr val="9FE8F1"/>
                </a:solidFill>
                <a:latin typeface="Courier New" pitchFamily="34" charset="0"/>
                <a:ea typeface="Courier New" pitchFamily="34" charset="-122"/>
                <a:cs typeface="Courier New" pitchFamily="34" charset="-120"/>
              </a:rPr>
              <a:t>PARAGRAPH-1 reads WS-TOTAL</a:t>
            </a:r>
            <a:endParaRPr lang="en-US" sz="800" dirty="0"/>
          </a:p>
        </p:txBody>
      </p:sp>
      <p:sp>
        <p:nvSpPr>
          <p:cNvPr id="11" name="Shape 8"/>
          <p:cNvSpPr/>
          <p:nvPr/>
        </p:nvSpPr>
        <p:spPr>
          <a:xfrm>
            <a:off x="5991206" y="1108677"/>
            <a:ext cx="2581294" cy="1428750"/>
          </a:xfrm>
          <a:prstGeom prst="rect">
            <a:avLst/>
          </a:prstGeom>
          <a:solidFill>
            <a:srgbClr val="0D263E"/>
          </a:solidFill>
          <a:ln w="9144">
            <a:solidFill>
              <a:srgbClr val="24425A"/>
            </a:solidFill>
            <a:prstDash val="solid"/>
          </a:ln>
        </p:spPr>
      </p:sp>
      <p:sp>
        <p:nvSpPr>
          <p:cNvPr id="12" name="Text 9"/>
          <p:cNvSpPr/>
          <p:nvPr/>
        </p:nvSpPr>
        <p:spPr>
          <a:xfrm>
            <a:off x="5991206" y="1346485"/>
            <a:ext cx="2581294" cy="110728"/>
          </a:xfrm>
          <a:prstGeom prst="rect">
            <a:avLst/>
          </a:prstGeom>
          <a:noFill/>
          <a:ln/>
        </p:spPr>
        <p:txBody>
          <a:bodyPr wrap="square" lIns="136017" tIns="0" rIns="136017" bIns="0" rtlCol="0" anchor="t">
            <a:spAutoFit/>
          </a:bodyPr>
          <a:lstStyle/>
          <a:p>
            <a:pPr algn="l" indent="0" marL="0">
              <a:buNone/>
            </a:pPr>
            <a:r>
              <a:rPr lang="en-US" sz="650" b="1" spc="1" kern="0" dirty="0">
                <a:solidFill>
                  <a:srgbClr val="F3B562"/>
                </a:solidFill>
                <a:latin typeface="Arial" pitchFamily="34" charset="0"/>
                <a:ea typeface="Arial" pitchFamily="34" charset="-122"/>
                <a:cs typeface="Arial" pitchFamily="34" charset="-120"/>
              </a:rPr>
              <a:t>BUSINESS-RULE AGENT</a:t>
            </a:r>
            <a:endParaRPr lang="en-US" sz="650" dirty="0"/>
          </a:p>
        </p:txBody>
      </p:sp>
      <p:sp>
        <p:nvSpPr>
          <p:cNvPr id="13" name="Text 10"/>
          <p:cNvSpPr/>
          <p:nvPr/>
        </p:nvSpPr>
        <p:spPr>
          <a:xfrm>
            <a:off x="5991206" y="1542938"/>
            <a:ext cx="2581294" cy="450056"/>
          </a:xfrm>
          <a:prstGeom prst="rect">
            <a:avLst/>
          </a:prstGeom>
          <a:noFill/>
          <a:ln/>
        </p:spPr>
        <p:txBody>
          <a:bodyPr wrap="square" lIns="136017" tIns="0" rIns="136017" bIns="0" rtlCol="0" anchor="t">
            <a:spAutoFit/>
          </a:bodyPr>
          <a:lstStyle/>
          <a:p>
            <a:pPr algn="l" indent="0" marL="0">
              <a:lnSpc>
                <a:spcPct val="112000"/>
              </a:lnSpc>
              <a:buNone/>
            </a:pPr>
            <a:r>
              <a:rPr lang="en-US" sz="800" dirty="0">
                <a:solidFill>
                  <a:srgbClr val="9FE8F1"/>
                </a:solidFill>
                <a:latin typeface="Courier New" pitchFamily="34" charset="0"/>
                <a:ea typeface="Courier New" pitchFamily="34" charset="-122"/>
                <a:cs typeface="Courier New" pitchFamily="34" charset="-120"/>
              </a:rPr>
              <a:t>"When WS-COUNT &gt; 0, execute the conditional processing logic for positive counts."</a:t>
            </a:r>
            <a:endParaRPr lang="en-US" sz="800" dirty="0"/>
          </a:p>
        </p:txBody>
      </p:sp>
      <p:sp>
        <p:nvSpPr>
          <p:cNvPr id="14" name="Shape 11"/>
          <p:cNvSpPr/>
          <p:nvPr/>
        </p:nvSpPr>
        <p:spPr>
          <a:xfrm>
            <a:off x="571500" y="2651727"/>
            <a:ext cx="8001000" cy="952909"/>
          </a:xfrm>
          <a:prstGeom prst="rect">
            <a:avLst/>
          </a:prstGeom>
          <a:solidFill>
            <a:srgbClr val="000000">
              <a:alpha val="0"/>
            </a:srgbClr>
          </a:solidFill>
          <a:ln/>
        </p:spPr>
      </p:sp>
      <p:sp>
        <p:nvSpPr>
          <p:cNvPr id="15" name="Shape 12"/>
          <p:cNvSpPr/>
          <p:nvPr/>
        </p:nvSpPr>
        <p:spPr>
          <a:xfrm>
            <a:off x="571500" y="2651727"/>
            <a:ext cx="8001000" cy="14288"/>
          </a:xfrm>
          <a:prstGeom prst="rect">
            <a:avLst/>
          </a:prstGeom>
          <a:solidFill>
            <a:srgbClr val="24425A"/>
          </a:solidFill>
          <a:ln/>
        </p:spPr>
      </p:sp>
      <p:sp>
        <p:nvSpPr>
          <p:cNvPr id="16" name="Text 13"/>
          <p:cNvSpPr/>
          <p:nvPr/>
        </p:nvSpPr>
        <p:spPr>
          <a:xfrm>
            <a:off x="571500" y="2908902"/>
            <a:ext cx="8001000" cy="160734"/>
          </a:xfrm>
          <a:prstGeom prst="rect">
            <a:avLst/>
          </a:prstGeom>
          <a:noFill/>
          <a:ln/>
        </p:spPr>
        <p:txBody>
          <a:bodyPr wrap="square" lIns="0" tIns="0" rIns="0" bIns="0" rtlCol="0" anchor="t">
            <a:spAutoFit/>
          </a:bodyPr>
          <a:lstStyle/>
          <a:p>
            <a:pPr algn="l" indent="0" marL="0">
              <a:buNone/>
            </a:pPr>
            <a:r>
              <a:rPr lang="en-US" sz="1000" b="1" spc="1" kern="0" dirty="0">
                <a:solidFill>
                  <a:srgbClr val="63D5E8"/>
                </a:solidFill>
                <a:latin typeface="Arial" pitchFamily="34" charset="0"/>
                <a:ea typeface="Arial" pitchFamily="34" charset="-122"/>
                <a:cs typeface="Arial" pitchFamily="34" charset="-120"/>
              </a:rPr>
              <a:t>WHY THE INTERMEDIATE MODEL MATTERS</a:t>
            </a:r>
            <a:endParaRPr lang="en-US" sz="1000" dirty="0"/>
          </a:p>
        </p:txBody>
      </p:sp>
      <p:sp>
        <p:nvSpPr>
          <p:cNvPr id="17" name="Text 14"/>
          <p:cNvSpPr/>
          <p:nvPr/>
        </p:nvSpPr>
        <p:spPr>
          <a:xfrm>
            <a:off x="678656" y="3169648"/>
            <a:ext cx="1828800" cy="132159"/>
          </a:xfrm>
          <a:prstGeom prst="rect">
            <a:avLst/>
          </a:prstGeom>
          <a:noFill/>
          <a:ln/>
        </p:spPr>
        <p:txBody>
          <a:bodyPr wrap="square" lIns="0" tIns="0" rIns="0" bIns="0" rtlCol="0" anchor="t">
            <a:spAutoFit/>
          </a:bodyPr>
          <a:lstStyle/>
          <a:p>
            <a:pPr algn="l" indent="0" marL="0">
              <a:buNone/>
            </a:pPr>
            <a:r>
              <a:rPr lang="en-US" sz="800" b="1" dirty="0">
                <a:solidFill>
                  <a:srgbClr val="F8FAFC"/>
                </a:solidFill>
                <a:latin typeface="Arial" pitchFamily="34" charset="0"/>
                <a:ea typeface="Arial" pitchFamily="34" charset="-122"/>
                <a:cs typeface="Arial" pitchFamily="34" charset="-120"/>
              </a:rPr>
              <a:t>Stable Contracts</a:t>
            </a:r>
            <a:endParaRPr lang="en-US" sz="800" dirty="0"/>
          </a:p>
        </p:txBody>
      </p:sp>
      <p:sp>
        <p:nvSpPr>
          <p:cNvPr id="18" name="Text 15"/>
          <p:cNvSpPr/>
          <p:nvPr/>
        </p:nvSpPr>
        <p:spPr>
          <a:xfrm>
            <a:off x="678656" y="3330383"/>
            <a:ext cx="1828800"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B5C4D6"/>
                </a:solidFill>
                <a:latin typeface="Arial" pitchFamily="34" charset="0"/>
                <a:ea typeface="Arial" pitchFamily="34" charset="-122"/>
                <a:cs typeface="Arial" pitchFamily="34" charset="-120"/>
              </a:rPr>
              <a:t>Agents share a consistent schema for data exchange.</a:t>
            </a:r>
            <a:endParaRPr lang="en-US" sz="750" dirty="0"/>
          </a:p>
        </p:txBody>
      </p:sp>
      <p:sp>
        <p:nvSpPr>
          <p:cNvPr id="19" name="Text 16"/>
          <p:cNvSpPr/>
          <p:nvPr/>
        </p:nvSpPr>
        <p:spPr>
          <a:xfrm>
            <a:off x="2700338" y="3169648"/>
            <a:ext cx="1828800" cy="132159"/>
          </a:xfrm>
          <a:prstGeom prst="rect">
            <a:avLst/>
          </a:prstGeom>
          <a:noFill/>
          <a:ln/>
        </p:spPr>
        <p:txBody>
          <a:bodyPr wrap="square" lIns="0" tIns="0" rIns="0" bIns="0" rtlCol="0" anchor="t">
            <a:spAutoFit/>
          </a:bodyPr>
          <a:lstStyle/>
          <a:p>
            <a:pPr algn="l" indent="0" marL="0">
              <a:buNone/>
            </a:pPr>
            <a:r>
              <a:rPr lang="en-US" sz="800" b="1" dirty="0">
                <a:solidFill>
                  <a:srgbClr val="F8FAFC"/>
                </a:solidFill>
                <a:latin typeface="Arial" pitchFamily="34" charset="0"/>
                <a:ea typeface="Arial" pitchFamily="34" charset="-122"/>
                <a:cs typeface="Arial" pitchFamily="34" charset="-120"/>
              </a:rPr>
              <a:t>Agent Identity</a:t>
            </a:r>
            <a:endParaRPr lang="en-US" sz="800" dirty="0"/>
          </a:p>
        </p:txBody>
      </p:sp>
      <p:sp>
        <p:nvSpPr>
          <p:cNvPr id="20" name="Text 17"/>
          <p:cNvSpPr/>
          <p:nvPr/>
        </p:nvSpPr>
        <p:spPr>
          <a:xfrm>
            <a:off x="2700338" y="3330383"/>
            <a:ext cx="1828800"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B5C4D6"/>
                </a:solidFill>
                <a:latin typeface="Arial" pitchFamily="34" charset="0"/>
                <a:ea typeface="Arial" pitchFamily="34" charset="-122"/>
                <a:cs typeface="Arial" pitchFamily="34" charset="-120"/>
              </a:rPr>
              <a:t>Findings retain provenance and confidence scores.</a:t>
            </a:r>
            <a:endParaRPr lang="en-US" sz="750" dirty="0"/>
          </a:p>
        </p:txBody>
      </p:sp>
      <p:sp>
        <p:nvSpPr>
          <p:cNvPr id="21" name="Text 18"/>
          <p:cNvSpPr/>
          <p:nvPr/>
        </p:nvSpPr>
        <p:spPr>
          <a:xfrm>
            <a:off x="4722019" y="3169648"/>
            <a:ext cx="1828800" cy="132159"/>
          </a:xfrm>
          <a:prstGeom prst="rect">
            <a:avLst/>
          </a:prstGeom>
          <a:noFill/>
          <a:ln/>
        </p:spPr>
        <p:txBody>
          <a:bodyPr wrap="square" lIns="0" tIns="0" rIns="0" bIns="0" rtlCol="0" anchor="t">
            <a:spAutoFit/>
          </a:bodyPr>
          <a:lstStyle/>
          <a:p>
            <a:pPr algn="l" indent="0" marL="0">
              <a:buNone/>
            </a:pPr>
            <a:r>
              <a:rPr lang="en-US" sz="800" b="1" dirty="0">
                <a:solidFill>
                  <a:srgbClr val="F8FAFC"/>
                </a:solidFill>
                <a:latin typeface="Arial" pitchFamily="34" charset="0"/>
                <a:ea typeface="Arial" pitchFamily="34" charset="-122"/>
                <a:cs typeface="Arial" pitchFamily="34" charset="-120"/>
              </a:rPr>
              <a:t>Separation</a:t>
            </a:r>
            <a:endParaRPr lang="en-US" sz="800" dirty="0"/>
          </a:p>
        </p:txBody>
      </p:sp>
      <p:sp>
        <p:nvSpPr>
          <p:cNvPr id="22" name="Text 19"/>
          <p:cNvSpPr/>
          <p:nvPr/>
        </p:nvSpPr>
        <p:spPr>
          <a:xfrm>
            <a:off x="4722019" y="3330383"/>
            <a:ext cx="1828800"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B5C4D6"/>
                </a:solidFill>
                <a:latin typeface="Arial" pitchFamily="34" charset="0"/>
                <a:ea typeface="Arial" pitchFamily="34" charset="-122"/>
                <a:cs typeface="Arial" pitchFamily="34" charset="-120"/>
              </a:rPr>
              <a:t>Extraction logic is decoupled from the final builder.</a:t>
            </a:r>
            <a:endParaRPr lang="en-US" sz="750" dirty="0"/>
          </a:p>
        </p:txBody>
      </p:sp>
      <p:sp>
        <p:nvSpPr>
          <p:cNvPr id="23" name="Text 20"/>
          <p:cNvSpPr/>
          <p:nvPr/>
        </p:nvSpPr>
        <p:spPr>
          <a:xfrm>
            <a:off x="6743700" y="3169648"/>
            <a:ext cx="1828800" cy="132159"/>
          </a:xfrm>
          <a:prstGeom prst="rect">
            <a:avLst/>
          </a:prstGeom>
          <a:noFill/>
          <a:ln/>
        </p:spPr>
        <p:txBody>
          <a:bodyPr wrap="square" lIns="0" tIns="0" rIns="0" bIns="0" rtlCol="0" anchor="t">
            <a:spAutoFit/>
          </a:bodyPr>
          <a:lstStyle/>
          <a:p>
            <a:pPr algn="l" indent="0" marL="0">
              <a:buNone/>
            </a:pPr>
            <a:r>
              <a:rPr lang="en-US" sz="800" b="1" dirty="0">
                <a:solidFill>
                  <a:srgbClr val="F8FAFC"/>
                </a:solidFill>
                <a:latin typeface="Arial" pitchFamily="34" charset="0"/>
                <a:ea typeface="Arial" pitchFamily="34" charset="-122"/>
                <a:cs typeface="Arial" pitchFamily="34" charset="-120"/>
              </a:rPr>
              <a:t>Pre-Validation</a:t>
            </a:r>
            <a:endParaRPr lang="en-US" sz="800" dirty="0"/>
          </a:p>
        </p:txBody>
      </p:sp>
      <p:sp>
        <p:nvSpPr>
          <p:cNvPr id="24" name="Text 21"/>
          <p:cNvSpPr/>
          <p:nvPr/>
        </p:nvSpPr>
        <p:spPr>
          <a:xfrm>
            <a:off x="6743700" y="3330383"/>
            <a:ext cx="1828800"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B5C4D6"/>
                </a:solidFill>
                <a:latin typeface="Arial" pitchFamily="34" charset="0"/>
                <a:ea typeface="Arial" pitchFamily="34" charset="-122"/>
                <a:cs typeface="Arial" pitchFamily="34" charset="-120"/>
              </a:rPr>
              <a:t>Errors are caught before XML serialization occurs.</a:t>
            </a:r>
            <a:endParaRPr lang="en-US" sz="750" dirty="0"/>
          </a:p>
        </p:txBody>
      </p:sp>
      <p:sp>
        <p:nvSpPr>
          <p:cNvPr id="25" name="Text 22"/>
          <p:cNvSpPr/>
          <p:nvPr/>
        </p:nvSpPr>
        <p:spPr>
          <a:xfrm>
            <a:off x="571500" y="4832747"/>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26" name="Text 23"/>
          <p:cNvSpPr/>
          <p:nvPr/>
        </p:nvSpPr>
        <p:spPr>
          <a:xfrm>
            <a:off x="8454907" y="4832747"/>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08</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85788" y="514350"/>
            <a:ext cx="7972425"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09 / GENAI INTEGRATION</a:t>
            </a:r>
            <a:endParaRPr lang="en-US" sz="700" dirty="0"/>
          </a:p>
        </p:txBody>
      </p:sp>
      <p:sp>
        <p:nvSpPr>
          <p:cNvPr id="4" name="Text 1"/>
          <p:cNvSpPr/>
          <p:nvPr/>
        </p:nvSpPr>
        <p:spPr>
          <a:xfrm>
            <a:off x="585788" y="757238"/>
            <a:ext cx="6429375" cy="660016"/>
          </a:xfrm>
          <a:prstGeom prst="rect">
            <a:avLst/>
          </a:prstGeom>
          <a:noFill/>
          <a:ln/>
        </p:spPr>
        <p:txBody>
          <a:bodyPr wrap="square" lIns="0" tIns="0" rIns="0" bIns="0" rtlCol="0" anchor="t">
            <a:spAutoFit/>
          </a:bodyPr>
          <a:lstStyle/>
          <a:p>
            <a:pPr algn="l" indent="0" marL="0">
              <a:lnSpc>
                <a:spcPct val="88000"/>
              </a:lnSpc>
              <a:buNone/>
            </a:pPr>
            <a:r>
              <a:rPr lang="en-US" sz="2100" b="1" dirty="0">
                <a:solidFill>
                  <a:srgbClr val="F8FAFC"/>
                </a:solidFill>
                <a:latin typeface="Arial" pitchFamily="34" charset="0"/>
                <a:ea typeface="Arial" pitchFamily="34" charset="-122"/>
                <a:cs typeface="Arial" pitchFamily="34" charset="-120"/>
              </a:rPr>
              <a:t>GenAI adds semantic interpretation with controlled fallbacks</a:t>
            </a:r>
            <a:endParaRPr lang="en-US" sz="2100" dirty="0"/>
          </a:p>
        </p:txBody>
      </p:sp>
      <p:sp>
        <p:nvSpPr>
          <p:cNvPr id="5" name="Text 2"/>
          <p:cNvSpPr/>
          <p:nvPr/>
        </p:nvSpPr>
        <p:spPr>
          <a:xfrm>
            <a:off x="585788" y="1774441"/>
            <a:ext cx="3771900" cy="114300"/>
          </a:xfrm>
          <a:prstGeom prst="rect">
            <a:avLst/>
          </a:prstGeom>
          <a:noFill/>
          <a:ln/>
        </p:spPr>
        <p:txBody>
          <a:bodyPr wrap="square" lIns="0" tIns="0" rIns="0" bIns="0" rtlCol="0" anchor="t">
            <a:spAutoFit/>
          </a:bodyPr>
          <a:lstStyle/>
          <a:p>
            <a:pPr algn="l" indent="0" marL="0">
              <a:buNone/>
            </a:pPr>
            <a:r>
              <a:rPr lang="en-US" sz="700" b="1" spc="2" kern="0" dirty="0">
                <a:solidFill>
                  <a:srgbClr val="F3B562"/>
                </a:solidFill>
                <a:latin typeface="Arial" pitchFamily="34" charset="0"/>
                <a:ea typeface="Arial" pitchFamily="34" charset="-122"/>
                <a:cs typeface="Arial" pitchFamily="34" charset="-120"/>
              </a:rPr>
              <a:t>GEMINI-BACKED CAPABILITY</a:t>
            </a:r>
            <a:endParaRPr lang="en-US" sz="700" dirty="0"/>
          </a:p>
        </p:txBody>
      </p:sp>
      <p:sp>
        <p:nvSpPr>
          <p:cNvPr id="6" name="Shape 3"/>
          <p:cNvSpPr/>
          <p:nvPr/>
        </p:nvSpPr>
        <p:spPr>
          <a:xfrm>
            <a:off x="585788" y="2060191"/>
            <a:ext cx="3771900" cy="2581684"/>
          </a:xfrm>
          <a:prstGeom prst="rect">
            <a:avLst/>
          </a:prstGeom>
          <a:solidFill>
            <a:srgbClr val="0D263E"/>
          </a:solidFill>
          <a:ln w="9144">
            <a:solidFill>
              <a:srgbClr val="2F6D89"/>
            </a:solidFill>
            <a:prstDash val="solid"/>
          </a:ln>
        </p:spPr>
      </p:sp>
      <p:sp>
        <p:nvSpPr>
          <p:cNvPr id="7" name="Text 4"/>
          <p:cNvSpPr/>
          <p:nvPr/>
        </p:nvSpPr>
        <p:spPr>
          <a:xfrm>
            <a:off x="800100" y="2388803"/>
            <a:ext cx="3343275" cy="150019"/>
          </a:xfrm>
          <a:prstGeom prst="rect">
            <a:avLst/>
          </a:prstGeom>
          <a:noFill/>
          <a:ln/>
        </p:spPr>
        <p:txBody>
          <a:bodyPr wrap="square" lIns="0" tIns="0" rIns="0" bIns="0" rtlCol="0" anchor="t">
            <a:spAutoFit/>
          </a:bodyPr>
          <a:lstStyle/>
          <a:p>
            <a:pPr algn="l" indent="0" marL="0">
              <a:buNone/>
            </a:pPr>
            <a:r>
              <a:rPr lang="en-US" sz="900" b="1" dirty="0">
                <a:solidFill>
                  <a:srgbClr val="63D5E8"/>
                </a:solidFill>
                <a:latin typeface="Arial" pitchFamily="34" charset="0"/>
                <a:ea typeface="Arial" pitchFamily="34" charset="-122"/>
                <a:cs typeface="Arial" pitchFamily="34" charset="-120"/>
              </a:rPr>
              <a:t>Granular Analysis</a:t>
            </a:r>
            <a:endParaRPr lang="en-US" sz="900" dirty="0"/>
          </a:p>
        </p:txBody>
      </p:sp>
      <p:sp>
        <p:nvSpPr>
          <p:cNvPr id="8" name="Text 5"/>
          <p:cNvSpPr/>
          <p:nvPr/>
        </p:nvSpPr>
        <p:spPr>
          <a:xfrm>
            <a:off x="800100" y="2595972"/>
            <a:ext cx="3343275"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B5C4D6"/>
                </a:solidFill>
                <a:latin typeface="Arial" pitchFamily="34" charset="0"/>
                <a:ea typeface="Arial" pitchFamily="34" charset="-122"/>
                <a:cs typeface="Arial" pitchFamily="34" charset="-120"/>
              </a:rPr>
              <a:t>The Business-Rule Agent analyzes one COBOL paragraph at a time to maintain context window efficiency.</a:t>
            </a:r>
            <a:endParaRPr lang="en-US" sz="850" dirty="0"/>
          </a:p>
        </p:txBody>
      </p:sp>
      <p:sp>
        <p:nvSpPr>
          <p:cNvPr id="9" name="Text 6"/>
          <p:cNvSpPr/>
          <p:nvPr/>
        </p:nvSpPr>
        <p:spPr>
          <a:xfrm>
            <a:off x="800100" y="3173164"/>
            <a:ext cx="3343275" cy="150019"/>
          </a:xfrm>
          <a:prstGeom prst="rect">
            <a:avLst/>
          </a:prstGeom>
          <a:noFill/>
          <a:ln/>
        </p:spPr>
        <p:txBody>
          <a:bodyPr wrap="square" lIns="0" tIns="0" rIns="0" bIns="0" rtlCol="0" anchor="t">
            <a:spAutoFit/>
          </a:bodyPr>
          <a:lstStyle/>
          <a:p>
            <a:pPr algn="l" indent="0" marL="0">
              <a:buNone/>
            </a:pPr>
            <a:r>
              <a:rPr lang="en-US" sz="900" b="1" dirty="0">
                <a:solidFill>
                  <a:srgbClr val="63D5E8"/>
                </a:solidFill>
                <a:latin typeface="Arial" pitchFamily="34" charset="0"/>
                <a:ea typeface="Arial" pitchFamily="34" charset="-122"/>
                <a:cs typeface="Arial" pitchFamily="34" charset="-120"/>
              </a:rPr>
              <a:t>Structured Output</a:t>
            </a:r>
            <a:endParaRPr lang="en-US" sz="900" dirty="0"/>
          </a:p>
        </p:txBody>
      </p:sp>
      <p:sp>
        <p:nvSpPr>
          <p:cNvPr id="10" name="Text 7"/>
          <p:cNvSpPr/>
          <p:nvPr/>
        </p:nvSpPr>
        <p:spPr>
          <a:xfrm>
            <a:off x="800100" y="3380333"/>
            <a:ext cx="3343275"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B5C4D6"/>
                </a:solidFill>
                <a:latin typeface="Arial" pitchFamily="34" charset="0"/>
                <a:ea typeface="Arial" pitchFamily="34" charset="-122"/>
                <a:cs typeface="Arial" pitchFamily="34" charset="-120"/>
              </a:rPr>
              <a:t>Returns strictly typed JSON validated via Pydantic to ensure downstream model compatibility.</a:t>
            </a:r>
            <a:endParaRPr lang="en-US" sz="850" dirty="0"/>
          </a:p>
        </p:txBody>
      </p:sp>
      <p:sp>
        <p:nvSpPr>
          <p:cNvPr id="11" name="Text 8"/>
          <p:cNvSpPr/>
          <p:nvPr/>
        </p:nvSpPr>
        <p:spPr>
          <a:xfrm>
            <a:off x="800100" y="3957526"/>
            <a:ext cx="3343275" cy="150019"/>
          </a:xfrm>
          <a:prstGeom prst="rect">
            <a:avLst/>
          </a:prstGeom>
          <a:noFill/>
          <a:ln/>
        </p:spPr>
        <p:txBody>
          <a:bodyPr wrap="square" lIns="0" tIns="0" rIns="0" bIns="0" rtlCol="0" anchor="t">
            <a:spAutoFit/>
          </a:bodyPr>
          <a:lstStyle/>
          <a:p>
            <a:pPr algn="l" indent="0" marL="0">
              <a:buNone/>
            </a:pPr>
            <a:r>
              <a:rPr lang="en-US" sz="900" b="1" dirty="0">
                <a:solidFill>
                  <a:srgbClr val="63D5E8"/>
                </a:solidFill>
                <a:latin typeface="Arial" pitchFamily="34" charset="0"/>
                <a:ea typeface="Arial" pitchFamily="34" charset="-122"/>
                <a:cs typeface="Arial" pitchFamily="34" charset="-120"/>
              </a:rPr>
              <a:t>Consistency Control</a:t>
            </a:r>
            <a:endParaRPr lang="en-US" sz="900" dirty="0"/>
          </a:p>
        </p:txBody>
      </p:sp>
      <p:sp>
        <p:nvSpPr>
          <p:cNvPr id="12" name="Text 9"/>
          <p:cNvSpPr/>
          <p:nvPr/>
        </p:nvSpPr>
        <p:spPr>
          <a:xfrm>
            <a:off x="800100" y="4164695"/>
            <a:ext cx="3343275"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B5C4D6"/>
                </a:solidFill>
                <a:latin typeface="Arial" pitchFamily="34" charset="0"/>
                <a:ea typeface="Arial" pitchFamily="34" charset="-122"/>
                <a:cs typeface="Arial" pitchFamily="34" charset="-120"/>
              </a:rPr>
              <a:t>Low temperature settings minimize variance and improve reproducibility of business rule descriptions.</a:t>
            </a:r>
            <a:endParaRPr lang="en-US" sz="850" dirty="0"/>
          </a:p>
        </p:txBody>
      </p:sp>
      <p:sp>
        <p:nvSpPr>
          <p:cNvPr id="13" name="Text 10"/>
          <p:cNvSpPr/>
          <p:nvPr/>
        </p:nvSpPr>
        <p:spPr>
          <a:xfrm>
            <a:off x="4786313" y="1774441"/>
            <a:ext cx="3771900" cy="114300"/>
          </a:xfrm>
          <a:prstGeom prst="rect">
            <a:avLst/>
          </a:prstGeom>
          <a:noFill/>
          <a:ln/>
        </p:spPr>
        <p:txBody>
          <a:bodyPr wrap="square" lIns="0" tIns="0" rIns="0" bIns="0" rtlCol="0" anchor="t">
            <a:spAutoFit/>
          </a:bodyPr>
          <a:lstStyle/>
          <a:p>
            <a:pPr algn="l" indent="0" marL="0">
              <a:buNone/>
            </a:pPr>
            <a:r>
              <a:rPr lang="en-US" sz="700" b="1" spc="2" kern="0" dirty="0">
                <a:solidFill>
                  <a:srgbClr val="F3B562"/>
                </a:solidFill>
                <a:latin typeface="Arial" pitchFamily="34" charset="0"/>
                <a:ea typeface="Arial" pitchFamily="34" charset="-122"/>
                <a:cs typeface="Arial" pitchFamily="34" charset="-120"/>
              </a:rPr>
              <a:t>RELIABILITY DESIGN</a:t>
            </a:r>
            <a:endParaRPr lang="en-US" sz="700" dirty="0"/>
          </a:p>
        </p:txBody>
      </p:sp>
      <p:sp>
        <p:nvSpPr>
          <p:cNvPr id="14" name="Shape 11"/>
          <p:cNvSpPr/>
          <p:nvPr/>
        </p:nvSpPr>
        <p:spPr>
          <a:xfrm>
            <a:off x="4786313" y="2131628"/>
            <a:ext cx="85725" cy="14288"/>
          </a:xfrm>
          <a:prstGeom prst="rect">
            <a:avLst/>
          </a:prstGeom>
          <a:solidFill>
            <a:srgbClr val="F3B562"/>
          </a:solidFill>
          <a:ln/>
        </p:spPr>
      </p:sp>
      <p:sp>
        <p:nvSpPr>
          <p:cNvPr id="15" name="Text 12"/>
          <p:cNvSpPr/>
          <p:nvPr/>
        </p:nvSpPr>
        <p:spPr>
          <a:xfrm>
            <a:off x="4786313" y="2060191"/>
            <a:ext cx="3771900" cy="379958"/>
          </a:xfrm>
          <a:prstGeom prst="rect">
            <a:avLst/>
          </a:prstGeom>
          <a:noFill/>
          <a:ln/>
        </p:spPr>
        <p:txBody>
          <a:bodyPr wrap="square" lIns="255143" tIns="0" rIns="0" bIns="0" rtlCol="0" anchor="t">
            <a:spAutoFit/>
          </a:bodyPr>
          <a:lstStyle/>
          <a:p>
            <a:pPr algn="l" indent="0" marL="0">
              <a:lnSpc>
                <a:spcPct val="112000"/>
              </a:lnSpc>
              <a:buNone/>
            </a:pPr>
            <a:r>
              <a:rPr lang="en-US" sz="950" b="1" dirty="0">
                <a:solidFill>
                  <a:srgbClr val="F8FAFC"/>
                </a:solidFill>
                <a:latin typeface="Arial" pitchFamily="34" charset="0"/>
                <a:ea typeface="Arial" pitchFamily="34" charset="-122"/>
                <a:cs typeface="Arial" pitchFamily="34" charset="-120"/>
              </a:rPr>
              <a:t>Deterministic Core:</a:t>
            </a:r>
            <a:r>
              <a:rPr lang="en-US" sz="1000" dirty="0">
                <a:solidFill>
                  <a:srgbClr val="DCE7F2"/>
                </a:solidFill>
                <a:latin typeface="Arial" pitchFamily="34" charset="0"/>
                <a:ea typeface="Arial" pitchFamily="34" charset="-122"/>
                <a:cs typeface="Arial" pitchFamily="34" charset="-120"/>
              </a:rPr>
              <a:t> Structural and data-flow extraction remains parser-based and repeatable.</a:t>
            </a:r>
            <a:endParaRPr lang="en-US" sz="950" dirty="0"/>
          </a:p>
        </p:txBody>
      </p:sp>
      <p:sp>
        <p:nvSpPr>
          <p:cNvPr id="16" name="Shape 13"/>
          <p:cNvSpPr/>
          <p:nvPr/>
        </p:nvSpPr>
        <p:spPr>
          <a:xfrm>
            <a:off x="4786313" y="2683036"/>
            <a:ext cx="85725" cy="14288"/>
          </a:xfrm>
          <a:prstGeom prst="rect">
            <a:avLst/>
          </a:prstGeom>
          <a:solidFill>
            <a:srgbClr val="F3B562"/>
          </a:solidFill>
          <a:ln/>
        </p:spPr>
      </p:sp>
      <p:sp>
        <p:nvSpPr>
          <p:cNvPr id="17" name="Text 14"/>
          <p:cNvSpPr/>
          <p:nvPr/>
        </p:nvSpPr>
        <p:spPr>
          <a:xfrm>
            <a:off x="4786313" y="2611599"/>
            <a:ext cx="3771900" cy="379958"/>
          </a:xfrm>
          <a:prstGeom prst="rect">
            <a:avLst/>
          </a:prstGeom>
          <a:noFill/>
          <a:ln/>
        </p:spPr>
        <p:txBody>
          <a:bodyPr wrap="square" lIns="255143" tIns="0" rIns="0" bIns="0" rtlCol="0" anchor="t">
            <a:spAutoFit/>
          </a:bodyPr>
          <a:lstStyle/>
          <a:p>
            <a:pPr algn="l" indent="0" marL="0">
              <a:lnSpc>
                <a:spcPct val="112000"/>
              </a:lnSpc>
              <a:buNone/>
            </a:pPr>
            <a:r>
              <a:rPr lang="en-US" sz="950" b="1" dirty="0">
                <a:solidFill>
                  <a:srgbClr val="F8FAFC"/>
                </a:solidFill>
                <a:latin typeface="Arial" pitchFamily="34" charset="0"/>
                <a:ea typeface="Arial" pitchFamily="34" charset="-122"/>
                <a:cs typeface="Arial" pitchFamily="34" charset="-120"/>
              </a:rPr>
              <a:t>Local Fallbacks:</a:t>
            </a:r>
            <a:r>
              <a:rPr lang="en-US" sz="1000" dirty="0">
                <a:solidFill>
                  <a:srgbClr val="DCE7F2"/>
                </a:solidFill>
                <a:latin typeface="Arial" pitchFamily="34" charset="0"/>
                <a:ea typeface="Arial" pitchFamily="34" charset="-122"/>
                <a:cs typeface="Arial" pitchFamily="34" charset="-120"/>
              </a:rPr>
              <a:t> If API requests fail or credentials are missing, the system reverts to local heuristic rules.</a:t>
            </a:r>
            <a:endParaRPr lang="en-US" sz="950" dirty="0"/>
          </a:p>
        </p:txBody>
      </p:sp>
      <p:sp>
        <p:nvSpPr>
          <p:cNvPr id="18" name="Shape 15"/>
          <p:cNvSpPr/>
          <p:nvPr/>
        </p:nvSpPr>
        <p:spPr>
          <a:xfrm>
            <a:off x="4786313" y="3234444"/>
            <a:ext cx="85725" cy="14288"/>
          </a:xfrm>
          <a:prstGeom prst="rect">
            <a:avLst/>
          </a:prstGeom>
          <a:solidFill>
            <a:srgbClr val="F3B562"/>
          </a:solidFill>
          <a:ln/>
        </p:spPr>
      </p:sp>
      <p:sp>
        <p:nvSpPr>
          <p:cNvPr id="19" name="Text 16"/>
          <p:cNvSpPr/>
          <p:nvPr/>
        </p:nvSpPr>
        <p:spPr>
          <a:xfrm>
            <a:off x="4786313" y="3163007"/>
            <a:ext cx="3771900" cy="379958"/>
          </a:xfrm>
          <a:prstGeom prst="rect">
            <a:avLst/>
          </a:prstGeom>
          <a:noFill/>
          <a:ln/>
        </p:spPr>
        <p:txBody>
          <a:bodyPr wrap="square" lIns="255143" tIns="0" rIns="0" bIns="0" rtlCol="0" anchor="t">
            <a:spAutoFit/>
          </a:bodyPr>
          <a:lstStyle/>
          <a:p>
            <a:pPr algn="l" indent="0" marL="0">
              <a:lnSpc>
                <a:spcPct val="112000"/>
              </a:lnSpc>
              <a:buNone/>
            </a:pPr>
            <a:r>
              <a:rPr lang="en-US" sz="950" b="1" dirty="0">
                <a:solidFill>
                  <a:srgbClr val="F8FAFC"/>
                </a:solidFill>
                <a:latin typeface="Arial" pitchFamily="34" charset="0"/>
                <a:ea typeface="Arial" pitchFamily="34" charset="-122"/>
                <a:cs typeface="Arial" pitchFamily="34" charset="-120"/>
              </a:rPr>
              <a:t>Validation Layer:</a:t>
            </a:r>
            <a:r>
              <a:rPr lang="en-US" sz="1000" dirty="0">
                <a:solidFill>
                  <a:srgbClr val="DCE7F2"/>
                </a:solidFill>
                <a:latin typeface="Arial" pitchFamily="34" charset="0"/>
                <a:ea typeface="Arial" pitchFamily="34" charset="-122"/>
                <a:cs typeface="Arial" pitchFamily="34" charset="-120"/>
              </a:rPr>
              <a:t> LLM findings are treated as candidate evidence until validated against the structural AST.</a:t>
            </a:r>
            <a:endParaRPr lang="en-US" sz="950" dirty="0"/>
          </a:p>
        </p:txBody>
      </p:sp>
      <p:sp>
        <p:nvSpPr>
          <p:cNvPr id="20" name="Shape 17"/>
          <p:cNvSpPr/>
          <p:nvPr/>
        </p:nvSpPr>
        <p:spPr>
          <a:xfrm>
            <a:off x="4786313" y="3785853"/>
            <a:ext cx="85725" cy="14288"/>
          </a:xfrm>
          <a:prstGeom prst="rect">
            <a:avLst/>
          </a:prstGeom>
          <a:solidFill>
            <a:srgbClr val="F3B562"/>
          </a:solidFill>
          <a:ln/>
        </p:spPr>
      </p:sp>
      <p:sp>
        <p:nvSpPr>
          <p:cNvPr id="21" name="Text 18"/>
          <p:cNvSpPr/>
          <p:nvPr/>
        </p:nvSpPr>
        <p:spPr>
          <a:xfrm>
            <a:off x="4786313" y="3714415"/>
            <a:ext cx="3771900" cy="379958"/>
          </a:xfrm>
          <a:prstGeom prst="rect">
            <a:avLst/>
          </a:prstGeom>
          <a:noFill/>
          <a:ln/>
        </p:spPr>
        <p:txBody>
          <a:bodyPr wrap="square" lIns="255143" tIns="0" rIns="0" bIns="0" rtlCol="0" anchor="t">
            <a:spAutoFit/>
          </a:bodyPr>
          <a:lstStyle/>
          <a:p>
            <a:pPr algn="l" indent="0" marL="0">
              <a:lnSpc>
                <a:spcPct val="112000"/>
              </a:lnSpc>
              <a:buNone/>
            </a:pPr>
            <a:r>
              <a:rPr lang="en-US" sz="950" b="1" dirty="0">
                <a:solidFill>
                  <a:srgbClr val="F8FAFC"/>
                </a:solidFill>
                <a:latin typeface="Arial" pitchFamily="34" charset="0"/>
                <a:ea typeface="Arial" pitchFamily="34" charset="-122"/>
                <a:cs typeface="Arial" pitchFamily="34" charset="-120"/>
              </a:rPr>
              <a:t>Hybrid Strategy:</a:t>
            </a:r>
            <a:r>
              <a:rPr lang="en-US" sz="1000" dirty="0">
                <a:solidFill>
                  <a:srgbClr val="DCE7F2"/>
                </a:solidFill>
                <a:latin typeface="Arial" pitchFamily="34" charset="0"/>
                <a:ea typeface="Arial" pitchFamily="34" charset="-122"/>
                <a:cs typeface="Arial" pitchFamily="34" charset="-120"/>
              </a:rPr>
              <a:t> Interpretation is used where semantic value is high; deterministic logic protects basic facts.</a:t>
            </a:r>
            <a:endParaRPr lang="en-US" sz="950" dirty="0"/>
          </a:p>
        </p:txBody>
      </p:sp>
      <p:sp>
        <p:nvSpPr>
          <p:cNvPr id="22" name="Text 19"/>
          <p:cNvSpPr/>
          <p:nvPr/>
        </p:nvSpPr>
        <p:spPr>
          <a:xfrm>
            <a:off x="585788" y="4832747"/>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23" name="Text 20"/>
          <p:cNvSpPr/>
          <p:nvPr/>
        </p:nvSpPr>
        <p:spPr>
          <a:xfrm>
            <a:off x="8440620" y="4832747"/>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09</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85788" y="514350"/>
            <a:ext cx="7972425"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09 / STATUS REPORT</a:t>
            </a:r>
            <a:endParaRPr lang="en-US" sz="700" dirty="0"/>
          </a:p>
        </p:txBody>
      </p:sp>
      <p:sp>
        <p:nvSpPr>
          <p:cNvPr id="5" name="Text 1"/>
          <p:cNvSpPr/>
          <p:nvPr/>
        </p:nvSpPr>
        <p:spPr>
          <a:xfrm>
            <a:off x="585788" y="757238"/>
            <a:ext cx="6429375" cy="330008"/>
          </a:xfrm>
          <a:prstGeom prst="rect">
            <a:avLst/>
          </a:prstGeom>
          <a:noFill/>
          <a:ln/>
        </p:spPr>
        <p:txBody>
          <a:bodyPr wrap="none" lIns="0" tIns="0" rIns="0" bIns="0" rtlCol="0" anchor="t">
            <a:spAutoFit/>
          </a:bodyPr>
          <a:lstStyle/>
          <a:p>
            <a:pPr algn="l" indent="0" marL="0">
              <a:lnSpc>
                <a:spcPct val="88000"/>
              </a:lnSpc>
              <a:buNone/>
            </a:pPr>
            <a:r>
              <a:rPr lang="en-US" sz="2250" dirty="0">
                <a:solidFill>
                  <a:srgbClr val="F8FAFC"/>
                </a:solidFill>
                <a:latin typeface="Arial" pitchFamily="34" charset="0"/>
                <a:ea typeface="Arial" pitchFamily="34" charset="-122"/>
                <a:cs typeface="Arial" pitchFamily="34" charset="-120"/>
              </a:rPr>
              <a:t>Q2 delivered a working research prototype</a:t>
            </a:r>
            <a:endParaRPr lang="en-US" sz="2250" dirty="0"/>
          </a:p>
        </p:txBody>
      </p:sp>
      <p:sp>
        <p:nvSpPr>
          <p:cNvPr id="6" name="Text 2"/>
          <p:cNvSpPr/>
          <p:nvPr/>
        </p:nvSpPr>
        <p:spPr>
          <a:xfrm>
            <a:off x="585788" y="1430145"/>
            <a:ext cx="4526235" cy="114300"/>
          </a:xfrm>
          <a:prstGeom prst="rect">
            <a:avLst/>
          </a:prstGeom>
          <a:noFill/>
          <a:ln/>
        </p:spPr>
        <p:txBody>
          <a:bodyPr wrap="square" lIns="0" tIns="0" rIns="0" bIns="0" rtlCol="0" anchor="t">
            <a:spAutoFit/>
          </a:bodyPr>
          <a:lstStyle/>
          <a:p>
            <a:pPr algn="l" indent="0" marL="0">
              <a:buNone/>
            </a:pPr>
            <a:r>
              <a:rPr lang="en-US" sz="700" b="1" spc="2" kern="0" dirty="0">
                <a:solidFill>
                  <a:srgbClr val="F3B562"/>
                </a:solidFill>
                <a:latin typeface="Arial" pitchFamily="34" charset="0"/>
                <a:ea typeface="Arial" pitchFamily="34" charset="-122"/>
                <a:cs typeface="Arial" pitchFamily="34" charset="-120"/>
              </a:rPr>
              <a:t>COMPLETED COMPONENTS</a:t>
            </a:r>
            <a:endParaRPr lang="en-US" sz="700" dirty="0"/>
          </a:p>
        </p:txBody>
      </p:sp>
      <p:sp>
        <p:nvSpPr>
          <p:cNvPr id="7" name="Text 3"/>
          <p:cNvSpPr/>
          <p:nvPr/>
        </p:nvSpPr>
        <p:spPr>
          <a:xfrm>
            <a:off x="585788" y="1808764"/>
            <a:ext cx="96441" cy="135731"/>
          </a:xfrm>
          <a:prstGeom prst="rect">
            <a:avLst/>
          </a:prstGeom>
          <a:noFill/>
          <a:ln/>
        </p:spPr>
        <p:txBody>
          <a:bodyPr wrap="none" lIns="0" tIns="0" rIns="0" bIns="0" rtlCol="0" anchor="t">
            <a:spAutoFit/>
          </a:bodyPr>
          <a:lstStyle/>
          <a:p>
            <a:pPr algn="l" indent="0" marL="0">
              <a:buNone/>
            </a:pPr>
            <a:r>
              <a:rPr lang="en-US" sz="800" b="1" dirty="0">
                <a:solidFill>
                  <a:srgbClr val="63D5E8"/>
                </a:solidFill>
                <a:latin typeface="Arial" pitchFamily="34" charset="0"/>
                <a:ea typeface="Arial" pitchFamily="34" charset="-122"/>
                <a:cs typeface="Arial" pitchFamily="34" charset="-120"/>
              </a:rPr>
              <a:t>✓</a:t>
            </a:r>
            <a:endParaRPr lang="en-US" sz="800" dirty="0"/>
          </a:p>
        </p:txBody>
      </p:sp>
      <p:sp>
        <p:nvSpPr>
          <p:cNvPr id="8" name="Text 4"/>
          <p:cNvSpPr/>
          <p:nvPr/>
        </p:nvSpPr>
        <p:spPr>
          <a:xfrm>
            <a:off x="796528" y="1808764"/>
            <a:ext cx="3018402"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B5C4D6"/>
                </a:solidFill>
                <a:latin typeface="Arial" pitchFamily="34" charset="0"/>
                <a:ea typeface="Arial" pitchFamily="34" charset="-122"/>
                <a:cs typeface="Arial" pitchFamily="34" charset="-120"/>
              </a:rPr>
              <a:t>ANTLR COBOL parser integration and recovery logic</a:t>
            </a:r>
            <a:endParaRPr lang="en-US" sz="950" dirty="0"/>
          </a:p>
        </p:txBody>
      </p:sp>
      <p:sp>
        <p:nvSpPr>
          <p:cNvPr id="9" name="Text 5"/>
          <p:cNvSpPr/>
          <p:nvPr/>
        </p:nvSpPr>
        <p:spPr>
          <a:xfrm>
            <a:off x="585788" y="2195922"/>
            <a:ext cx="96441" cy="135731"/>
          </a:xfrm>
          <a:prstGeom prst="rect">
            <a:avLst/>
          </a:prstGeom>
          <a:noFill/>
          <a:ln/>
        </p:spPr>
        <p:txBody>
          <a:bodyPr wrap="none" lIns="0" tIns="0" rIns="0" bIns="0" rtlCol="0" anchor="t">
            <a:spAutoFit/>
          </a:bodyPr>
          <a:lstStyle/>
          <a:p>
            <a:pPr algn="l" indent="0" marL="0">
              <a:buNone/>
            </a:pPr>
            <a:r>
              <a:rPr lang="en-US" sz="800" b="1" dirty="0">
                <a:solidFill>
                  <a:srgbClr val="63D5E8"/>
                </a:solidFill>
                <a:latin typeface="Arial" pitchFamily="34" charset="0"/>
                <a:ea typeface="Arial" pitchFamily="34" charset="-122"/>
                <a:cs typeface="Arial" pitchFamily="34" charset="-120"/>
              </a:rPr>
              <a:t>✓</a:t>
            </a:r>
            <a:endParaRPr lang="en-US" sz="800" dirty="0"/>
          </a:p>
        </p:txBody>
      </p:sp>
      <p:sp>
        <p:nvSpPr>
          <p:cNvPr id="10" name="Text 6"/>
          <p:cNvSpPr/>
          <p:nvPr/>
        </p:nvSpPr>
        <p:spPr>
          <a:xfrm>
            <a:off x="796528" y="2195922"/>
            <a:ext cx="3116517"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B5C4D6"/>
                </a:solidFill>
                <a:latin typeface="Arial" pitchFamily="34" charset="0"/>
                <a:ea typeface="Arial" pitchFamily="34" charset="-122"/>
                <a:cs typeface="Arial" pitchFamily="34" charset="-120"/>
              </a:rPr>
              <a:t>Multi-agent package, orchestrator, and analysis agents</a:t>
            </a:r>
            <a:endParaRPr lang="en-US" sz="950" dirty="0"/>
          </a:p>
        </p:txBody>
      </p:sp>
      <p:sp>
        <p:nvSpPr>
          <p:cNvPr id="11" name="Text 7"/>
          <p:cNvSpPr/>
          <p:nvPr/>
        </p:nvSpPr>
        <p:spPr>
          <a:xfrm>
            <a:off x="585788" y="2583080"/>
            <a:ext cx="96441" cy="135731"/>
          </a:xfrm>
          <a:prstGeom prst="rect">
            <a:avLst/>
          </a:prstGeom>
          <a:noFill/>
          <a:ln/>
        </p:spPr>
        <p:txBody>
          <a:bodyPr wrap="none" lIns="0" tIns="0" rIns="0" bIns="0" rtlCol="0" anchor="t">
            <a:spAutoFit/>
          </a:bodyPr>
          <a:lstStyle/>
          <a:p>
            <a:pPr algn="l" indent="0" marL="0">
              <a:buNone/>
            </a:pPr>
            <a:r>
              <a:rPr lang="en-US" sz="800" b="1" dirty="0">
                <a:solidFill>
                  <a:srgbClr val="63D5E8"/>
                </a:solidFill>
                <a:latin typeface="Arial" pitchFamily="34" charset="0"/>
                <a:ea typeface="Arial" pitchFamily="34" charset="-122"/>
                <a:cs typeface="Arial" pitchFamily="34" charset="-120"/>
              </a:rPr>
              <a:t>✓</a:t>
            </a:r>
            <a:endParaRPr lang="en-US" sz="800" dirty="0"/>
          </a:p>
        </p:txBody>
      </p:sp>
      <p:sp>
        <p:nvSpPr>
          <p:cNvPr id="12" name="Text 8"/>
          <p:cNvSpPr/>
          <p:nvPr/>
        </p:nvSpPr>
        <p:spPr>
          <a:xfrm>
            <a:off x="796528" y="2583080"/>
            <a:ext cx="2330314"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B5C4D6"/>
                </a:solidFill>
                <a:latin typeface="Arial" pitchFamily="34" charset="0"/>
                <a:ea typeface="Arial" pitchFamily="34" charset="-122"/>
                <a:cs typeface="Arial" pitchFamily="34" charset="-120"/>
              </a:rPr>
              <a:t>Pydantic intermediate and output models</a:t>
            </a:r>
            <a:endParaRPr lang="en-US" sz="950" dirty="0"/>
          </a:p>
        </p:txBody>
      </p:sp>
      <p:sp>
        <p:nvSpPr>
          <p:cNvPr id="13" name="Text 9"/>
          <p:cNvSpPr/>
          <p:nvPr/>
        </p:nvSpPr>
        <p:spPr>
          <a:xfrm>
            <a:off x="585788" y="2970237"/>
            <a:ext cx="96441" cy="135731"/>
          </a:xfrm>
          <a:prstGeom prst="rect">
            <a:avLst/>
          </a:prstGeom>
          <a:noFill/>
          <a:ln/>
        </p:spPr>
        <p:txBody>
          <a:bodyPr wrap="none" lIns="0" tIns="0" rIns="0" bIns="0" rtlCol="0" anchor="t">
            <a:spAutoFit/>
          </a:bodyPr>
          <a:lstStyle/>
          <a:p>
            <a:pPr algn="l" indent="0" marL="0">
              <a:buNone/>
            </a:pPr>
            <a:r>
              <a:rPr lang="en-US" sz="800" b="1" dirty="0">
                <a:solidFill>
                  <a:srgbClr val="63D5E8"/>
                </a:solidFill>
                <a:latin typeface="Arial" pitchFamily="34" charset="0"/>
                <a:ea typeface="Arial" pitchFamily="34" charset="-122"/>
                <a:cs typeface="Arial" pitchFamily="34" charset="-120"/>
              </a:rPr>
              <a:t>✓</a:t>
            </a:r>
            <a:endParaRPr lang="en-US" sz="800" dirty="0"/>
          </a:p>
        </p:txBody>
      </p:sp>
      <p:sp>
        <p:nvSpPr>
          <p:cNvPr id="14" name="Text 10"/>
          <p:cNvSpPr/>
          <p:nvPr/>
        </p:nvSpPr>
        <p:spPr>
          <a:xfrm>
            <a:off x="796528" y="2970237"/>
            <a:ext cx="3066120"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B5C4D6"/>
                </a:solidFill>
                <a:latin typeface="Arial" pitchFamily="34" charset="0"/>
                <a:ea typeface="Arial" pitchFamily="34" charset="-122"/>
                <a:cs typeface="Arial" pitchFamily="34" charset="-120"/>
              </a:rPr>
              <a:t>Gemini integration with deterministic fallback behavior</a:t>
            </a:r>
            <a:endParaRPr lang="en-US" sz="950" dirty="0"/>
          </a:p>
        </p:txBody>
      </p:sp>
      <p:sp>
        <p:nvSpPr>
          <p:cNvPr id="15" name="Text 11"/>
          <p:cNvSpPr/>
          <p:nvPr/>
        </p:nvSpPr>
        <p:spPr>
          <a:xfrm>
            <a:off x="585788" y="3357395"/>
            <a:ext cx="96441" cy="135731"/>
          </a:xfrm>
          <a:prstGeom prst="rect">
            <a:avLst/>
          </a:prstGeom>
          <a:noFill/>
          <a:ln/>
        </p:spPr>
        <p:txBody>
          <a:bodyPr wrap="none" lIns="0" tIns="0" rIns="0" bIns="0" rtlCol="0" anchor="t">
            <a:spAutoFit/>
          </a:bodyPr>
          <a:lstStyle/>
          <a:p>
            <a:pPr algn="l" indent="0" marL="0">
              <a:buNone/>
            </a:pPr>
            <a:r>
              <a:rPr lang="en-US" sz="800" b="1" dirty="0">
                <a:solidFill>
                  <a:srgbClr val="63D5E8"/>
                </a:solidFill>
                <a:latin typeface="Arial" pitchFamily="34" charset="0"/>
                <a:ea typeface="Arial" pitchFamily="34" charset="-122"/>
                <a:cs typeface="Arial" pitchFamily="34" charset="-120"/>
              </a:rPr>
              <a:t>✓</a:t>
            </a:r>
            <a:endParaRPr lang="en-US" sz="800" dirty="0"/>
          </a:p>
        </p:txBody>
      </p:sp>
      <p:sp>
        <p:nvSpPr>
          <p:cNvPr id="16" name="Text 12"/>
          <p:cNvSpPr/>
          <p:nvPr/>
        </p:nvSpPr>
        <p:spPr>
          <a:xfrm>
            <a:off x="796528" y="3357395"/>
            <a:ext cx="3033024"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B5C4D6"/>
                </a:solidFill>
                <a:latin typeface="Arial" pitchFamily="34" charset="0"/>
                <a:ea typeface="Arial" pitchFamily="34" charset="-122"/>
                <a:cs typeface="Arial" pitchFamily="34" charset="-120"/>
              </a:rPr>
              <a:t>XML serialization, basic validation, and CLI execution</a:t>
            </a:r>
            <a:endParaRPr lang="en-US" sz="950" dirty="0"/>
          </a:p>
        </p:txBody>
      </p:sp>
      <p:sp>
        <p:nvSpPr>
          <p:cNvPr id="17" name="Text 13"/>
          <p:cNvSpPr/>
          <p:nvPr/>
        </p:nvSpPr>
        <p:spPr>
          <a:xfrm>
            <a:off x="5540648" y="1430145"/>
            <a:ext cx="3017565" cy="114300"/>
          </a:xfrm>
          <a:prstGeom prst="rect">
            <a:avLst/>
          </a:prstGeom>
          <a:noFill/>
          <a:ln/>
        </p:spPr>
        <p:txBody>
          <a:bodyPr wrap="square" lIns="0" tIns="0" rIns="0" bIns="0" rtlCol="0" anchor="t">
            <a:spAutoFit/>
          </a:bodyPr>
          <a:lstStyle/>
          <a:p>
            <a:pPr algn="l" indent="0" marL="0">
              <a:buNone/>
            </a:pPr>
            <a:r>
              <a:rPr lang="en-US" sz="700" b="1" spc="2" kern="0" dirty="0">
                <a:solidFill>
                  <a:srgbClr val="F3B562"/>
                </a:solidFill>
                <a:latin typeface="Arial" pitchFamily="34" charset="0"/>
                <a:ea typeface="Arial" pitchFamily="34" charset="-122"/>
                <a:cs typeface="Arial" pitchFamily="34" charset="-120"/>
              </a:rPr>
              <a:t>CURRENT MATURITY</a:t>
            </a:r>
            <a:endParaRPr lang="en-US" sz="700" dirty="0"/>
          </a:p>
        </p:txBody>
      </p:sp>
      <p:sp>
        <p:nvSpPr>
          <p:cNvPr id="18" name="Shape 14"/>
          <p:cNvSpPr/>
          <p:nvPr/>
        </p:nvSpPr>
        <p:spPr>
          <a:xfrm>
            <a:off x="5540648" y="1715895"/>
            <a:ext cx="3017565" cy="2362349"/>
          </a:xfrm>
          <a:prstGeom prst="rect">
            <a:avLst/>
          </a:prstGeom>
          <a:solidFill>
            <a:srgbClr val="0D263E"/>
          </a:solidFill>
          <a:ln w="9144">
            <a:solidFill>
              <a:srgbClr val="2F6D89"/>
            </a:solidFill>
            <a:prstDash val="solid"/>
          </a:ln>
        </p:spPr>
      </p:sp>
      <p:sp>
        <p:nvSpPr>
          <p:cNvPr id="19" name="Shape 15"/>
          <p:cNvSpPr/>
          <p:nvPr/>
        </p:nvSpPr>
        <p:spPr>
          <a:xfrm>
            <a:off x="5769248" y="1944495"/>
            <a:ext cx="1510959" cy="260747"/>
          </a:xfrm>
          <a:prstGeom prst="rect">
            <a:avLst/>
          </a:prstGeom>
          <a:solidFill>
            <a:srgbClr val="1A3A5A"/>
          </a:solidFill>
          <a:ln w="9144">
            <a:solidFill>
              <a:srgbClr val="63D5E8"/>
            </a:solidFill>
            <a:prstDash val="solid"/>
          </a:ln>
        </p:spPr>
      </p:sp>
      <p:sp>
        <p:nvSpPr>
          <p:cNvPr id="20" name="Text 16"/>
          <p:cNvSpPr/>
          <p:nvPr/>
        </p:nvSpPr>
        <p:spPr>
          <a:xfrm>
            <a:off x="5769248" y="1944495"/>
            <a:ext cx="1510959" cy="260747"/>
          </a:xfrm>
          <a:prstGeom prst="rect">
            <a:avLst/>
          </a:prstGeom>
          <a:noFill/>
          <a:ln/>
        </p:spPr>
        <p:txBody>
          <a:bodyPr wrap="square" lIns="136017" tIns="68072" rIns="136017" bIns="68072" rtlCol="0" anchor="t">
            <a:spAutoFit/>
          </a:bodyPr>
          <a:lstStyle/>
          <a:p>
            <a:pPr algn="l" indent="0" marL="0">
              <a:buNone/>
            </a:pPr>
            <a:r>
              <a:rPr lang="en-US" sz="800" b="1" spc="1" kern="0" dirty="0">
                <a:solidFill>
                  <a:srgbClr val="9FE8F1"/>
                </a:solidFill>
                <a:latin typeface="Arial" pitchFamily="34" charset="0"/>
                <a:ea typeface="Arial" pitchFamily="34" charset="-122"/>
                <a:cs typeface="Arial" pitchFamily="34" charset="-120"/>
              </a:rPr>
              <a:t>ACTIVE PROTOTYPE</a:t>
            </a:r>
            <a:endParaRPr lang="en-US" sz="800" dirty="0"/>
          </a:p>
        </p:txBody>
      </p:sp>
      <p:sp>
        <p:nvSpPr>
          <p:cNvPr id="21" name="Text 17"/>
          <p:cNvSpPr/>
          <p:nvPr/>
        </p:nvSpPr>
        <p:spPr>
          <a:xfrm>
            <a:off x="5769248" y="2362405"/>
            <a:ext cx="2560365" cy="479971"/>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F8FAFC"/>
                </a:solidFill>
                <a:latin typeface="Arial" pitchFamily="34" charset="0"/>
                <a:ea typeface="Arial" pitchFamily="34" charset="-122"/>
                <a:cs typeface="Arial" pitchFamily="34" charset="-120"/>
              </a:rPr>
              <a:t>Working research prototype and demonstration system.</a:t>
            </a:r>
            <a:endParaRPr lang="en-US" sz="1200" dirty="0"/>
          </a:p>
        </p:txBody>
      </p:sp>
      <p:sp>
        <p:nvSpPr>
          <p:cNvPr id="22" name="Text 18"/>
          <p:cNvSpPr/>
          <p:nvPr/>
        </p:nvSpPr>
        <p:spPr>
          <a:xfrm>
            <a:off x="5769248" y="2985250"/>
            <a:ext cx="2560365" cy="835819"/>
          </a:xfrm>
          <a:prstGeom prst="rect">
            <a:avLst/>
          </a:prstGeom>
          <a:noFill/>
          <a:ln/>
        </p:spPr>
        <p:txBody>
          <a:bodyPr wrap="square" lIns="0" tIns="170053" rIns="0" bIns="0" rtlCol="0" anchor="t">
            <a:spAutoFit/>
          </a:bodyPr>
          <a:lstStyle/>
          <a:p>
            <a:pPr algn="l" indent="0" marL="0">
              <a:lnSpc>
                <a:spcPct val="120000"/>
              </a:lnSpc>
              <a:buNone/>
            </a:pPr>
            <a:r>
              <a:rPr lang="en-US" sz="850" dirty="0">
                <a:solidFill>
                  <a:srgbClr val="8AA4C2"/>
                </a:solidFill>
                <a:latin typeface="Arial" pitchFamily="34" charset="0"/>
                <a:ea typeface="Arial" pitchFamily="34" charset="-122"/>
                <a:cs typeface="Arial" pitchFamily="34" charset="-120"/>
              </a:rPr>
              <a:t>Not yet a production converter or fully standards-validated KDM exporter. Focus remains on architectural validation and knowledge recovery accuracy.</a:t>
            </a:r>
            <a:endParaRPr lang="en-US" sz="850" dirty="0"/>
          </a:p>
        </p:txBody>
      </p:sp>
      <p:sp>
        <p:nvSpPr>
          <p:cNvPr id="23" name="Text 19"/>
          <p:cNvSpPr/>
          <p:nvPr/>
        </p:nvSpPr>
        <p:spPr>
          <a:xfrm>
            <a:off x="585788" y="4832747"/>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24" name="Text 20"/>
          <p:cNvSpPr/>
          <p:nvPr/>
        </p:nvSpPr>
        <p:spPr>
          <a:xfrm>
            <a:off x="8440620" y="4832747"/>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10</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11 / ROADMAP</a:t>
            </a:r>
            <a:endParaRPr lang="en-US" sz="700" dirty="0"/>
          </a:p>
        </p:txBody>
      </p:sp>
      <p:sp>
        <p:nvSpPr>
          <p:cNvPr id="5" name="Text 1"/>
          <p:cNvSpPr/>
          <p:nvPr/>
        </p:nvSpPr>
        <p:spPr>
          <a:xfrm>
            <a:off x="571500" y="650081"/>
            <a:ext cx="6429375" cy="660016"/>
          </a:xfrm>
          <a:prstGeom prst="rect">
            <a:avLst/>
          </a:prstGeom>
          <a:noFill/>
          <a:ln/>
        </p:spPr>
        <p:txBody>
          <a:bodyPr wrap="square" lIns="0" tIns="0" rIns="0" bIns="0" rtlCol="0" anchor="t">
            <a:spAutoFit/>
          </a:bodyPr>
          <a:lstStyle/>
          <a:p>
            <a:pPr algn="l" indent="0" marL="0">
              <a:lnSpc>
                <a:spcPct val="88000"/>
              </a:lnSpc>
              <a:buNone/>
            </a:pPr>
            <a:r>
              <a:rPr lang="en-US" sz="2100" b="1" dirty="0">
                <a:solidFill>
                  <a:srgbClr val="F8FAFC"/>
                </a:solidFill>
                <a:latin typeface="Arial" pitchFamily="34" charset="0"/>
                <a:ea typeface="Arial" pitchFamily="34" charset="-122"/>
                <a:cs typeface="Arial" pitchFamily="34" charset="-120"/>
              </a:rPr>
              <a:t>The next milestone is measurement, not more claims</a:t>
            </a:r>
            <a:endParaRPr lang="en-US" sz="2100" dirty="0"/>
          </a:p>
        </p:txBody>
      </p:sp>
      <p:sp>
        <p:nvSpPr>
          <p:cNvPr id="6" name="Shape 2"/>
          <p:cNvSpPr/>
          <p:nvPr/>
        </p:nvSpPr>
        <p:spPr>
          <a:xfrm>
            <a:off x="571500" y="1595847"/>
            <a:ext cx="2857500" cy="3000375"/>
          </a:xfrm>
          <a:prstGeom prst="rect">
            <a:avLst/>
          </a:prstGeom>
          <a:solidFill>
            <a:srgbClr val="0D263E"/>
          </a:solidFill>
          <a:ln w="9144">
            <a:solidFill>
              <a:srgbClr val="24425A"/>
            </a:solidFill>
            <a:prstDash val="solid"/>
          </a:ln>
        </p:spPr>
      </p:sp>
      <p:pic>
        <p:nvPicPr>
          <p:cNvPr id="7" name="Image 1" descr="preencoded.png">    </p:cNvPr>
          <p:cNvPicPr>
            <a:picLocks noChangeAspect="1"/>
          </p:cNvPicPr>
          <p:nvPr/>
        </p:nvPicPr>
        <p:blipFill>
          <a:blip r:embed="rId2"/>
          <a:stretch>
            <a:fillRect/>
          </a:stretch>
        </p:blipFill>
        <p:spPr>
          <a:xfrm>
            <a:off x="642938" y="1667284"/>
            <a:ext cx="2714625" cy="2857500"/>
          </a:xfrm>
          <a:prstGeom prst="rect">
            <a:avLst/>
          </a:prstGeom>
        </p:spPr>
      </p:pic>
      <p:sp>
        <p:nvSpPr>
          <p:cNvPr id="8" name="Text 3"/>
          <p:cNvSpPr/>
          <p:nvPr/>
        </p:nvSpPr>
        <p:spPr>
          <a:xfrm>
            <a:off x="3857625" y="1695859"/>
            <a:ext cx="4714875" cy="114300"/>
          </a:xfrm>
          <a:prstGeom prst="rect">
            <a:avLst/>
          </a:prstGeom>
          <a:noFill/>
          <a:ln/>
        </p:spPr>
        <p:txBody>
          <a:bodyPr wrap="square" lIns="0" tIns="0" rIns="0" bIns="0" rtlCol="0" anchor="t">
            <a:spAutoFit/>
          </a:bodyPr>
          <a:lstStyle/>
          <a:p>
            <a:pPr algn="l" indent="0" marL="0">
              <a:buNone/>
            </a:pPr>
            <a:r>
              <a:rPr lang="en-US" sz="700" b="1" spc="2" kern="0" dirty="0">
                <a:solidFill>
                  <a:srgbClr val="F3B562"/>
                </a:solidFill>
                <a:latin typeface="Arial" pitchFamily="34" charset="0"/>
                <a:ea typeface="Arial" pitchFamily="34" charset="-122"/>
                <a:cs typeface="Arial" pitchFamily="34" charset="-120"/>
              </a:rPr>
              <a:t>IMMEDIATE PRIORITIES</a:t>
            </a:r>
            <a:endParaRPr lang="en-US" sz="700" dirty="0"/>
          </a:p>
        </p:txBody>
      </p:sp>
      <p:sp>
        <p:nvSpPr>
          <p:cNvPr id="9" name="Shape 4"/>
          <p:cNvSpPr/>
          <p:nvPr/>
        </p:nvSpPr>
        <p:spPr>
          <a:xfrm>
            <a:off x="3857625" y="1967322"/>
            <a:ext cx="71438" cy="14288"/>
          </a:xfrm>
          <a:prstGeom prst="rect">
            <a:avLst/>
          </a:prstGeom>
          <a:solidFill>
            <a:srgbClr val="63D5E8"/>
          </a:solidFill>
          <a:ln/>
        </p:spPr>
      </p:sp>
      <p:sp>
        <p:nvSpPr>
          <p:cNvPr id="10" name="Text 5"/>
          <p:cNvSpPr/>
          <p:nvPr/>
        </p:nvSpPr>
        <p:spPr>
          <a:xfrm>
            <a:off x="3857625" y="1895884"/>
            <a:ext cx="4714875" cy="179989"/>
          </a:xfrm>
          <a:prstGeom prst="rect">
            <a:avLst/>
          </a:prstGeom>
          <a:noFill/>
          <a:ln/>
        </p:spPr>
        <p:txBody>
          <a:bodyPr wrap="none" lIns="212598" tIns="0" rIns="0" bIns="0" rtlCol="0" anchor="t">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Benchmark Creation:</a:t>
            </a:r>
            <a:r>
              <a:rPr lang="en-US" sz="950" dirty="0">
                <a:solidFill>
                  <a:srgbClr val="B5C4D6"/>
                </a:solidFill>
                <a:latin typeface="Arial" pitchFamily="34" charset="0"/>
                <a:ea typeface="Arial" pitchFamily="34" charset="-122"/>
                <a:cs typeface="Arial" pitchFamily="34" charset="-120"/>
              </a:rPr>
              <a:t> Create 3–5 labeled COBOL programs.</a:t>
            </a:r>
            <a:endParaRPr lang="en-US" sz="900" dirty="0"/>
          </a:p>
        </p:txBody>
      </p:sp>
      <p:sp>
        <p:nvSpPr>
          <p:cNvPr id="11" name="Shape 6"/>
          <p:cNvSpPr/>
          <p:nvPr/>
        </p:nvSpPr>
        <p:spPr>
          <a:xfrm>
            <a:off x="3857625" y="2204461"/>
            <a:ext cx="71438" cy="14288"/>
          </a:xfrm>
          <a:prstGeom prst="rect">
            <a:avLst/>
          </a:prstGeom>
          <a:solidFill>
            <a:srgbClr val="63D5E8"/>
          </a:solidFill>
          <a:ln/>
        </p:spPr>
      </p:sp>
      <p:sp>
        <p:nvSpPr>
          <p:cNvPr id="12" name="Text 7"/>
          <p:cNvSpPr/>
          <p:nvPr/>
        </p:nvSpPr>
        <p:spPr>
          <a:xfrm>
            <a:off x="3857625" y="2133023"/>
            <a:ext cx="4714875" cy="179989"/>
          </a:xfrm>
          <a:prstGeom prst="rect">
            <a:avLst/>
          </a:prstGeom>
          <a:noFill/>
          <a:ln/>
        </p:spPr>
        <p:txBody>
          <a:bodyPr wrap="none" lIns="212598" tIns="0" rIns="0" bIns="0" rtlCol="0" anchor="t">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Comparative Study:</a:t>
            </a:r>
            <a:r>
              <a:rPr lang="en-US" sz="950" dirty="0">
                <a:solidFill>
                  <a:srgbClr val="B5C4D6"/>
                </a:solidFill>
                <a:latin typeface="Arial" pitchFamily="34" charset="0"/>
                <a:ea typeface="Arial" pitchFamily="34" charset="-122"/>
                <a:cs typeface="Arial" pitchFamily="34" charset="-120"/>
              </a:rPr>
              <a:t> Measure extraction accuracy across methods.</a:t>
            </a:r>
            <a:endParaRPr lang="en-US" sz="900" dirty="0"/>
          </a:p>
        </p:txBody>
      </p:sp>
      <p:sp>
        <p:nvSpPr>
          <p:cNvPr id="13" name="Shape 8"/>
          <p:cNvSpPr/>
          <p:nvPr/>
        </p:nvSpPr>
        <p:spPr>
          <a:xfrm>
            <a:off x="3857625" y="2441600"/>
            <a:ext cx="71438" cy="14288"/>
          </a:xfrm>
          <a:prstGeom prst="rect">
            <a:avLst/>
          </a:prstGeom>
          <a:solidFill>
            <a:srgbClr val="63D5E8"/>
          </a:solidFill>
          <a:ln/>
        </p:spPr>
      </p:sp>
      <p:sp>
        <p:nvSpPr>
          <p:cNvPr id="14" name="Text 9"/>
          <p:cNvSpPr/>
          <p:nvPr/>
        </p:nvSpPr>
        <p:spPr>
          <a:xfrm>
            <a:off x="3857625" y="2370162"/>
            <a:ext cx="4714875" cy="179989"/>
          </a:xfrm>
          <a:prstGeom prst="rect">
            <a:avLst/>
          </a:prstGeom>
          <a:noFill/>
          <a:ln/>
        </p:spPr>
        <p:txBody>
          <a:bodyPr wrap="none" lIns="212598" tIns="0" rIns="0" bIns="0" rtlCol="0" anchor="t">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Regression Testing:</a:t>
            </a:r>
            <a:r>
              <a:rPr lang="en-US" sz="950" dirty="0">
                <a:solidFill>
                  <a:srgbClr val="B5C4D6"/>
                </a:solidFill>
                <a:latin typeface="Arial" pitchFamily="34" charset="0"/>
                <a:ea typeface="Arial" pitchFamily="34" charset="-122"/>
                <a:cs typeface="Arial" pitchFamily="34" charset="-120"/>
              </a:rPr>
              <a:t> Confirm demo stability and cost tracking.</a:t>
            </a:r>
            <a:endParaRPr lang="en-US" sz="900" dirty="0"/>
          </a:p>
        </p:txBody>
      </p:sp>
      <p:sp>
        <p:nvSpPr>
          <p:cNvPr id="15" name="Text 10"/>
          <p:cNvSpPr/>
          <p:nvPr/>
        </p:nvSpPr>
        <p:spPr>
          <a:xfrm>
            <a:off x="3857625" y="2850189"/>
            <a:ext cx="4714875" cy="114300"/>
          </a:xfrm>
          <a:prstGeom prst="rect">
            <a:avLst/>
          </a:prstGeom>
          <a:noFill/>
          <a:ln/>
        </p:spPr>
        <p:txBody>
          <a:bodyPr wrap="square" lIns="0" tIns="0" rIns="0" bIns="0" rtlCol="0" anchor="t">
            <a:spAutoFit/>
          </a:bodyPr>
          <a:lstStyle/>
          <a:p>
            <a:pPr algn="l" indent="0" marL="0">
              <a:buNone/>
            </a:pPr>
            <a:r>
              <a:rPr lang="en-US" sz="700" b="1" spc="2" kern="0" dirty="0">
                <a:solidFill>
                  <a:srgbClr val="F3B562"/>
                </a:solidFill>
                <a:latin typeface="Arial" pitchFamily="34" charset="0"/>
                <a:ea typeface="Arial" pitchFamily="34" charset="-122"/>
                <a:cs typeface="Arial" pitchFamily="34" charset="-120"/>
              </a:rPr>
              <a:t>RESEARCH EXTENSIONS</a:t>
            </a:r>
            <a:endParaRPr lang="en-US" sz="700" dirty="0"/>
          </a:p>
        </p:txBody>
      </p:sp>
      <p:sp>
        <p:nvSpPr>
          <p:cNvPr id="16" name="Shape 11"/>
          <p:cNvSpPr/>
          <p:nvPr/>
        </p:nvSpPr>
        <p:spPr>
          <a:xfrm>
            <a:off x="3857625" y="3121651"/>
            <a:ext cx="71438" cy="14288"/>
          </a:xfrm>
          <a:prstGeom prst="rect">
            <a:avLst/>
          </a:prstGeom>
          <a:solidFill>
            <a:srgbClr val="63D5E8"/>
          </a:solidFill>
          <a:ln/>
        </p:spPr>
      </p:sp>
      <p:sp>
        <p:nvSpPr>
          <p:cNvPr id="17" name="Text 12"/>
          <p:cNvSpPr/>
          <p:nvPr/>
        </p:nvSpPr>
        <p:spPr>
          <a:xfrm>
            <a:off x="3857625" y="3050214"/>
            <a:ext cx="4714875" cy="179989"/>
          </a:xfrm>
          <a:prstGeom prst="rect">
            <a:avLst/>
          </a:prstGeom>
          <a:noFill/>
          <a:ln/>
        </p:spPr>
        <p:txBody>
          <a:bodyPr wrap="none" lIns="212598" tIns="0" rIns="0" bIns="0" rtlCol="0" anchor="t">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Language Coverage:</a:t>
            </a:r>
            <a:r>
              <a:rPr lang="en-US" sz="950" dirty="0">
                <a:solidFill>
                  <a:srgbClr val="B5C4D6"/>
                </a:solidFill>
                <a:latin typeface="Arial" pitchFamily="34" charset="0"/>
                <a:ea typeface="Arial" pitchFamily="34" charset="-122"/>
                <a:cs typeface="Arial" pitchFamily="34" charset="-120"/>
              </a:rPr>
              <a:t> Add copybooks, file I/O, complex PERFORMs.</a:t>
            </a:r>
            <a:endParaRPr lang="en-US" sz="900" dirty="0"/>
          </a:p>
        </p:txBody>
      </p:sp>
      <p:sp>
        <p:nvSpPr>
          <p:cNvPr id="18" name="Shape 13"/>
          <p:cNvSpPr/>
          <p:nvPr/>
        </p:nvSpPr>
        <p:spPr>
          <a:xfrm>
            <a:off x="3857625" y="3358790"/>
            <a:ext cx="71438" cy="14288"/>
          </a:xfrm>
          <a:prstGeom prst="rect">
            <a:avLst/>
          </a:prstGeom>
          <a:solidFill>
            <a:srgbClr val="63D5E8"/>
          </a:solidFill>
          <a:ln/>
        </p:spPr>
      </p:sp>
      <p:sp>
        <p:nvSpPr>
          <p:cNvPr id="19" name="Text 14"/>
          <p:cNvSpPr/>
          <p:nvPr/>
        </p:nvSpPr>
        <p:spPr>
          <a:xfrm>
            <a:off x="3857625" y="3287353"/>
            <a:ext cx="4714875" cy="179989"/>
          </a:xfrm>
          <a:prstGeom prst="rect">
            <a:avLst/>
          </a:prstGeom>
          <a:noFill/>
          <a:ln/>
        </p:spPr>
        <p:txBody>
          <a:bodyPr wrap="none" lIns="212598" tIns="0" rIns="0" bIns="0" rtlCol="0" anchor="t">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Agent Collaboration:</a:t>
            </a:r>
            <a:r>
              <a:rPr lang="en-US" sz="950" dirty="0">
                <a:solidFill>
                  <a:srgbClr val="B5C4D6"/>
                </a:solidFill>
                <a:latin typeface="Arial" pitchFamily="34" charset="0"/>
                <a:ea typeface="Arial" pitchFamily="34" charset="-122"/>
                <a:cs typeface="Arial" pitchFamily="34" charset="-120"/>
              </a:rPr>
              <a:t> Add disagreement detection and reviews.</a:t>
            </a:r>
            <a:endParaRPr lang="en-US" sz="900" dirty="0"/>
          </a:p>
        </p:txBody>
      </p:sp>
      <p:sp>
        <p:nvSpPr>
          <p:cNvPr id="20" name="Shape 15"/>
          <p:cNvSpPr/>
          <p:nvPr/>
        </p:nvSpPr>
        <p:spPr>
          <a:xfrm>
            <a:off x="3857625" y="3595929"/>
            <a:ext cx="71438" cy="14288"/>
          </a:xfrm>
          <a:prstGeom prst="rect">
            <a:avLst/>
          </a:prstGeom>
          <a:solidFill>
            <a:srgbClr val="63D5E8"/>
          </a:solidFill>
          <a:ln/>
        </p:spPr>
      </p:sp>
      <p:sp>
        <p:nvSpPr>
          <p:cNvPr id="21" name="Text 16"/>
          <p:cNvSpPr/>
          <p:nvPr/>
        </p:nvSpPr>
        <p:spPr>
          <a:xfrm>
            <a:off x="3857625" y="3524492"/>
            <a:ext cx="4714875" cy="179989"/>
          </a:xfrm>
          <a:prstGeom prst="rect">
            <a:avLst/>
          </a:prstGeom>
          <a:noFill/>
          <a:ln/>
        </p:spPr>
        <p:txBody>
          <a:bodyPr wrap="none" lIns="212598" tIns="0" rIns="0" bIns="0" rtlCol="0" anchor="t">
            <a:spAutoFit/>
          </a:bodyPr>
          <a:lstStyle/>
          <a:p>
            <a:pPr algn="l" indent="0" marL="0">
              <a:lnSpc>
                <a:spcPct val="112000"/>
              </a:lnSpc>
              <a:buNone/>
            </a:pPr>
            <a:r>
              <a:rPr lang="en-US" sz="900" b="1" dirty="0">
                <a:solidFill>
                  <a:srgbClr val="F8FAFC"/>
                </a:solidFill>
                <a:latin typeface="Arial" pitchFamily="34" charset="0"/>
                <a:ea typeface="Arial" pitchFamily="34" charset="-122"/>
                <a:cs typeface="Arial" pitchFamily="34" charset="-120"/>
              </a:rPr>
              <a:t>Standards Validation:</a:t>
            </a:r>
            <a:r>
              <a:rPr lang="en-US" sz="950" dirty="0">
                <a:solidFill>
                  <a:srgbClr val="B5C4D6"/>
                </a:solidFill>
                <a:latin typeface="Arial" pitchFamily="34" charset="0"/>
                <a:ea typeface="Arial" pitchFamily="34" charset="-122"/>
                <a:cs typeface="Arial" pitchFamily="34" charset="-120"/>
              </a:rPr>
              <a:t> Produce KDM relationships and validate outputs.</a:t>
            </a:r>
            <a:endParaRPr lang="en-US" sz="900" dirty="0"/>
          </a:p>
        </p:txBody>
      </p:sp>
      <p:sp>
        <p:nvSpPr>
          <p:cNvPr id="22" name="Text 17"/>
          <p:cNvSpPr/>
          <p:nvPr/>
        </p:nvSpPr>
        <p:spPr>
          <a:xfrm>
            <a:off x="571500" y="4832747"/>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23" name="Text 18"/>
          <p:cNvSpPr/>
          <p:nvPr/>
        </p:nvSpPr>
        <p:spPr>
          <a:xfrm>
            <a:off x="8461772" y="4832747"/>
            <a:ext cx="110728"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11</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85788" y="514350"/>
            <a:ext cx="7972425" cy="114300"/>
          </a:xfrm>
          <a:prstGeom prst="rect">
            <a:avLst/>
          </a:prstGeom>
          <a:noFill/>
          <a:ln/>
        </p:spPr>
        <p:txBody>
          <a:bodyPr wrap="square" lIns="0" tIns="0" rIns="0" bIns="0" rtlCol="0" anchor="t">
            <a:spAutoFit/>
          </a:bodyPr>
          <a:lstStyle/>
          <a:p>
            <a:pPr algn="l" indent="0" marL="0">
              <a:buNone/>
            </a:pPr>
            <a:r>
              <a:rPr lang="en-US" sz="700" b="1" spc="2" kern="0" dirty="0">
                <a:solidFill>
                  <a:srgbClr val="63D5E8"/>
                </a:solidFill>
                <a:latin typeface="Arial" pitchFamily="34" charset="0"/>
                <a:ea typeface="Arial" pitchFamily="34" charset="-122"/>
                <a:cs typeface="Arial" pitchFamily="34" charset="-120"/>
              </a:rPr>
              <a:t>12 / CONCLUSION</a:t>
            </a:r>
            <a:endParaRPr lang="en-US" sz="700" dirty="0"/>
          </a:p>
        </p:txBody>
      </p:sp>
      <p:sp>
        <p:nvSpPr>
          <p:cNvPr id="5" name="Text 1"/>
          <p:cNvSpPr/>
          <p:nvPr/>
        </p:nvSpPr>
        <p:spPr>
          <a:xfrm>
            <a:off x="585788" y="800100"/>
            <a:ext cx="6429375" cy="754335"/>
          </a:xfrm>
          <a:prstGeom prst="rect">
            <a:avLst/>
          </a:prstGeom>
          <a:noFill/>
          <a:ln/>
        </p:spPr>
        <p:txBody>
          <a:bodyPr wrap="square" lIns="0" tIns="0" rIns="0" bIns="0" rtlCol="0" anchor="t">
            <a:spAutoFit/>
          </a:bodyPr>
          <a:lstStyle/>
          <a:p>
            <a:pPr algn="l" indent="0" marL="0">
              <a:lnSpc>
                <a:spcPct val="88000"/>
              </a:lnSpc>
              <a:buNone/>
            </a:pPr>
            <a:r>
              <a:rPr lang="en-US" sz="2450" b="1" dirty="0">
                <a:solidFill>
                  <a:srgbClr val="F8FAFC"/>
                </a:solidFill>
                <a:latin typeface="Arial" pitchFamily="34" charset="0"/>
                <a:ea typeface="Arial" pitchFamily="34" charset="-122"/>
                <a:cs typeface="Arial" pitchFamily="34" charset="-120"/>
              </a:rPr>
              <a:t>The Q2 foundation is ready for a measurable study</a:t>
            </a:r>
            <a:endParaRPr lang="en-US" sz="2450" dirty="0"/>
          </a:p>
        </p:txBody>
      </p:sp>
      <p:sp>
        <p:nvSpPr>
          <p:cNvPr id="6" name="Shape 2"/>
          <p:cNvSpPr/>
          <p:nvPr/>
        </p:nvSpPr>
        <p:spPr>
          <a:xfrm>
            <a:off x="585788" y="1783035"/>
            <a:ext cx="6072188" cy="780064"/>
          </a:xfrm>
          <a:prstGeom prst="rect">
            <a:avLst/>
          </a:prstGeom>
          <a:solidFill>
            <a:srgbClr val="000000">
              <a:alpha val="0"/>
            </a:srgbClr>
          </a:solidFill>
          <a:ln/>
        </p:spPr>
      </p:sp>
      <p:sp>
        <p:nvSpPr>
          <p:cNvPr id="7" name="Shape 3"/>
          <p:cNvSpPr/>
          <p:nvPr/>
        </p:nvSpPr>
        <p:spPr>
          <a:xfrm>
            <a:off x="585788" y="1783035"/>
            <a:ext cx="28575" cy="780064"/>
          </a:xfrm>
          <a:prstGeom prst="rect">
            <a:avLst/>
          </a:prstGeom>
          <a:solidFill>
            <a:srgbClr val="F3B562"/>
          </a:solidFill>
          <a:ln/>
        </p:spPr>
      </p:sp>
      <p:sp>
        <p:nvSpPr>
          <p:cNvPr id="8" name="Text 4"/>
          <p:cNvSpPr/>
          <p:nvPr/>
        </p:nvSpPr>
        <p:spPr>
          <a:xfrm>
            <a:off x="585788" y="1783035"/>
            <a:ext cx="6072188" cy="780064"/>
          </a:xfrm>
          <a:prstGeom prst="rect">
            <a:avLst/>
          </a:prstGeom>
          <a:noFill/>
          <a:ln/>
        </p:spPr>
        <p:txBody>
          <a:bodyPr wrap="square" lIns="238125" tIns="0" rIns="0" bIns="0" rtlCol="0" anchor="t">
            <a:spAutoFit/>
          </a:bodyPr>
          <a:lstStyle/>
          <a:p>
            <a:pPr algn="l" indent="0" marL="0">
              <a:lnSpc>
                <a:spcPct val="112000"/>
              </a:lnSpc>
              <a:buNone/>
            </a:pPr>
            <a:r>
              <a:rPr lang="en-US" sz="1400" dirty="0">
                <a:solidFill>
                  <a:srgbClr val="B5C4D6"/>
                </a:solidFill>
                <a:latin typeface="Arial" pitchFamily="34" charset="0"/>
                <a:ea typeface="Arial" pitchFamily="34" charset="-122"/>
                <a:cs typeface="Arial" pitchFamily="34" charset="-120"/>
              </a:rPr>
              <a:t>Multi-agent GenAI can assist legacy-system understanding, but its value must be demonstrated through structured output, validation, and measurable comparison.</a:t>
            </a:r>
            <a:endParaRPr lang="en-US" sz="1400" dirty="0"/>
          </a:p>
        </p:txBody>
      </p:sp>
      <p:sp>
        <p:nvSpPr>
          <p:cNvPr id="9" name="Text 5"/>
          <p:cNvSpPr/>
          <p:nvPr/>
        </p:nvSpPr>
        <p:spPr>
          <a:xfrm>
            <a:off x="585788" y="3177462"/>
            <a:ext cx="2428875" cy="160734"/>
          </a:xfrm>
          <a:prstGeom prst="rect">
            <a:avLst/>
          </a:prstGeom>
          <a:noFill/>
          <a:ln/>
        </p:spPr>
        <p:txBody>
          <a:bodyPr wrap="square" lIns="0" tIns="0" rIns="0" bIns="0" rtlCol="0" anchor="t">
            <a:spAutoFit/>
          </a:bodyPr>
          <a:lstStyle/>
          <a:p>
            <a:pPr algn="l" indent="0" marL="0">
              <a:buNone/>
            </a:pPr>
            <a:r>
              <a:rPr lang="en-US" sz="1000" b="1" spc="1" kern="0" dirty="0">
                <a:solidFill>
                  <a:srgbClr val="63D5E8"/>
                </a:solidFill>
                <a:latin typeface="Arial" pitchFamily="34" charset="0"/>
                <a:ea typeface="Arial" pitchFamily="34" charset="-122"/>
                <a:cs typeface="Arial" pitchFamily="34" charset="-120"/>
              </a:rPr>
              <a:t>MODULARITY</a:t>
            </a:r>
            <a:endParaRPr lang="en-US" sz="1000" dirty="0"/>
          </a:p>
        </p:txBody>
      </p:sp>
      <p:sp>
        <p:nvSpPr>
          <p:cNvPr id="10" name="Text 6"/>
          <p:cNvSpPr/>
          <p:nvPr/>
        </p:nvSpPr>
        <p:spPr>
          <a:xfrm>
            <a:off x="585788" y="3452496"/>
            <a:ext cx="2428875" cy="546497"/>
          </a:xfrm>
          <a:prstGeom prst="rect">
            <a:avLst/>
          </a:prstGeom>
          <a:noFill/>
          <a:ln/>
        </p:spPr>
        <p:txBody>
          <a:bodyPr wrap="square" lIns="0" tIns="0" rIns="0" bIns="0" rtlCol="0" anchor="t">
            <a:spAutoFit/>
          </a:bodyPr>
          <a:lstStyle/>
          <a:p>
            <a:pPr algn="l" indent="0" marL="0">
              <a:lnSpc>
                <a:spcPct val="120000"/>
              </a:lnSpc>
              <a:buNone/>
            </a:pPr>
            <a:r>
              <a:rPr lang="en-US" sz="900" dirty="0">
                <a:solidFill>
                  <a:srgbClr val="B5C4D6"/>
                </a:solidFill>
                <a:latin typeface="Arial" pitchFamily="34" charset="0"/>
                <a:ea typeface="Arial" pitchFamily="34" charset="-122"/>
                <a:cs typeface="Arial" pitchFamily="34" charset="-120"/>
              </a:rPr>
              <a:t>Specialized agents separate syntax, structure, data flow, and semantic interpretation for better explainability.</a:t>
            </a:r>
            <a:endParaRPr lang="en-US" sz="900" dirty="0"/>
          </a:p>
        </p:txBody>
      </p:sp>
      <p:sp>
        <p:nvSpPr>
          <p:cNvPr id="11" name="Text 7"/>
          <p:cNvSpPr/>
          <p:nvPr/>
        </p:nvSpPr>
        <p:spPr>
          <a:xfrm>
            <a:off x="3357563" y="3177462"/>
            <a:ext cx="2428875" cy="160734"/>
          </a:xfrm>
          <a:prstGeom prst="rect">
            <a:avLst/>
          </a:prstGeom>
          <a:noFill/>
          <a:ln/>
        </p:spPr>
        <p:txBody>
          <a:bodyPr wrap="square" lIns="0" tIns="0" rIns="0" bIns="0" rtlCol="0" anchor="t">
            <a:spAutoFit/>
          </a:bodyPr>
          <a:lstStyle/>
          <a:p>
            <a:pPr algn="l" indent="0" marL="0">
              <a:buNone/>
            </a:pPr>
            <a:r>
              <a:rPr lang="en-US" sz="1000" b="1" spc="1" kern="0" dirty="0">
                <a:solidFill>
                  <a:srgbClr val="63D5E8"/>
                </a:solidFill>
                <a:latin typeface="Arial" pitchFamily="34" charset="0"/>
                <a:ea typeface="Arial" pitchFamily="34" charset="-122"/>
                <a:cs typeface="Arial" pitchFamily="34" charset="-120"/>
              </a:rPr>
              <a:t>REPRODUCIBILITY</a:t>
            </a:r>
            <a:endParaRPr lang="en-US" sz="1000" dirty="0"/>
          </a:p>
        </p:txBody>
      </p:sp>
      <p:sp>
        <p:nvSpPr>
          <p:cNvPr id="12" name="Text 8"/>
          <p:cNvSpPr/>
          <p:nvPr/>
        </p:nvSpPr>
        <p:spPr>
          <a:xfrm>
            <a:off x="3357563" y="3452496"/>
            <a:ext cx="2428875" cy="546497"/>
          </a:xfrm>
          <a:prstGeom prst="rect">
            <a:avLst/>
          </a:prstGeom>
          <a:noFill/>
          <a:ln/>
        </p:spPr>
        <p:txBody>
          <a:bodyPr wrap="square" lIns="0" tIns="0" rIns="0" bIns="0" rtlCol="0" anchor="t">
            <a:spAutoFit/>
          </a:bodyPr>
          <a:lstStyle/>
          <a:p>
            <a:pPr algn="l" indent="0" marL="0">
              <a:lnSpc>
                <a:spcPct val="120000"/>
              </a:lnSpc>
              <a:buNone/>
            </a:pPr>
            <a:r>
              <a:rPr lang="en-US" sz="900" dirty="0">
                <a:solidFill>
                  <a:srgbClr val="B5C4D6"/>
                </a:solidFill>
                <a:latin typeface="Arial" pitchFamily="34" charset="0"/>
                <a:ea typeface="Arial" pitchFamily="34" charset="-122"/>
                <a:cs typeface="Arial" pitchFamily="34" charset="-120"/>
              </a:rPr>
              <a:t>Deterministic fallbacks and parser-based core logic ensure reliable results and demo stability.</a:t>
            </a:r>
            <a:endParaRPr lang="en-US" sz="900" dirty="0"/>
          </a:p>
        </p:txBody>
      </p:sp>
      <p:sp>
        <p:nvSpPr>
          <p:cNvPr id="13" name="Text 9"/>
          <p:cNvSpPr/>
          <p:nvPr/>
        </p:nvSpPr>
        <p:spPr>
          <a:xfrm>
            <a:off x="6129338" y="3177462"/>
            <a:ext cx="2428875" cy="160734"/>
          </a:xfrm>
          <a:prstGeom prst="rect">
            <a:avLst/>
          </a:prstGeom>
          <a:noFill/>
          <a:ln/>
        </p:spPr>
        <p:txBody>
          <a:bodyPr wrap="square" lIns="0" tIns="0" rIns="0" bIns="0" rtlCol="0" anchor="t">
            <a:spAutoFit/>
          </a:bodyPr>
          <a:lstStyle/>
          <a:p>
            <a:pPr algn="l" indent="0" marL="0">
              <a:buNone/>
            </a:pPr>
            <a:r>
              <a:rPr lang="en-US" sz="1000" b="1" spc="1" kern="0" dirty="0">
                <a:solidFill>
                  <a:srgbClr val="63D5E8"/>
                </a:solidFill>
                <a:latin typeface="Arial" pitchFamily="34" charset="0"/>
                <a:ea typeface="Arial" pitchFamily="34" charset="-122"/>
                <a:cs typeface="Arial" pitchFamily="34" charset="-120"/>
              </a:rPr>
              <a:t>EVALUATION</a:t>
            </a:r>
            <a:endParaRPr lang="en-US" sz="1000" dirty="0"/>
          </a:p>
        </p:txBody>
      </p:sp>
      <p:sp>
        <p:nvSpPr>
          <p:cNvPr id="14" name="Text 10"/>
          <p:cNvSpPr/>
          <p:nvPr/>
        </p:nvSpPr>
        <p:spPr>
          <a:xfrm>
            <a:off x="6129338" y="3452496"/>
            <a:ext cx="2428875" cy="546497"/>
          </a:xfrm>
          <a:prstGeom prst="rect">
            <a:avLst/>
          </a:prstGeom>
          <a:noFill/>
          <a:ln/>
        </p:spPr>
        <p:txBody>
          <a:bodyPr wrap="square" lIns="0" tIns="0" rIns="0" bIns="0" rtlCol="0" anchor="t">
            <a:spAutoFit/>
          </a:bodyPr>
          <a:lstStyle/>
          <a:p>
            <a:pPr algn="l" indent="0" marL="0">
              <a:lnSpc>
                <a:spcPct val="120000"/>
              </a:lnSpc>
              <a:buNone/>
            </a:pPr>
            <a:r>
              <a:rPr lang="en-US" sz="900" dirty="0">
                <a:solidFill>
                  <a:srgbClr val="B5C4D6"/>
                </a:solidFill>
                <a:latin typeface="Arial" pitchFamily="34" charset="0"/>
                <a:ea typeface="Arial" pitchFamily="34" charset="-122"/>
                <a:cs typeface="Arial" pitchFamily="34" charset="-120"/>
              </a:rPr>
              <a:t>The decisive next step is rigorous testing against labeled COBOL examples and meaningful baselines.</a:t>
            </a:r>
            <a:endParaRPr lang="en-US" sz="900" dirty="0"/>
          </a:p>
        </p:txBody>
      </p:sp>
      <p:sp>
        <p:nvSpPr>
          <p:cNvPr id="15" name="Shape 11"/>
          <p:cNvSpPr/>
          <p:nvPr/>
        </p:nvSpPr>
        <p:spPr>
          <a:xfrm>
            <a:off x="585788" y="4427618"/>
            <a:ext cx="7972425" cy="400050"/>
          </a:xfrm>
          <a:prstGeom prst="rect">
            <a:avLst/>
          </a:prstGeom>
          <a:solidFill>
            <a:srgbClr val="000000">
              <a:alpha val="0"/>
            </a:srgbClr>
          </a:solidFill>
          <a:ln/>
        </p:spPr>
      </p:sp>
      <p:sp>
        <p:nvSpPr>
          <p:cNvPr id="16" name="Shape 12"/>
          <p:cNvSpPr/>
          <p:nvPr/>
        </p:nvSpPr>
        <p:spPr>
          <a:xfrm>
            <a:off x="585788" y="4427618"/>
            <a:ext cx="7972425" cy="7144"/>
          </a:xfrm>
          <a:prstGeom prst="rect">
            <a:avLst/>
          </a:prstGeom>
          <a:solidFill>
            <a:srgbClr val="24425A"/>
          </a:solidFill>
          <a:ln/>
        </p:spPr>
      </p:sp>
      <p:sp>
        <p:nvSpPr>
          <p:cNvPr id="17" name="Text 13"/>
          <p:cNvSpPr/>
          <p:nvPr/>
        </p:nvSpPr>
        <p:spPr>
          <a:xfrm>
            <a:off x="585788" y="4427618"/>
            <a:ext cx="7972425" cy="400050"/>
          </a:xfrm>
          <a:prstGeom prst="rect">
            <a:avLst/>
          </a:prstGeom>
          <a:noFill/>
          <a:ln/>
        </p:spPr>
        <p:txBody>
          <a:bodyPr wrap="square" lIns="0" tIns="255143" rIns="0" bIns="0" rtlCol="0" anchor="t">
            <a:spAutoFit/>
          </a:bodyPr>
          <a:lstStyle/>
          <a:p>
            <a:pPr algn="ctr" indent="0" marL="0">
              <a:buNone/>
            </a:pPr>
            <a:r>
              <a:rPr lang="en-US" sz="1100" b="1" dirty="0">
                <a:solidFill>
                  <a:srgbClr val="F3B562"/>
                </a:solidFill>
                <a:latin typeface="Arial" pitchFamily="34" charset="0"/>
                <a:ea typeface="Arial" pitchFamily="34" charset="-122"/>
                <a:cs typeface="Arial" pitchFamily="34" charset="-120"/>
              </a:rPr>
              <a:t>Ready for Q3: From Prototype to Proven Performance.</a:t>
            </a:r>
            <a:endParaRPr lang="en-US" sz="1100" dirty="0"/>
          </a:p>
        </p:txBody>
      </p:sp>
      <p:sp>
        <p:nvSpPr>
          <p:cNvPr id="18" name="Text 14"/>
          <p:cNvSpPr/>
          <p:nvPr/>
        </p:nvSpPr>
        <p:spPr>
          <a:xfrm>
            <a:off x="585788" y="4832747"/>
            <a:ext cx="1224539"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Q2 Project Status Update</a:t>
            </a:r>
            <a:endParaRPr lang="en-US" sz="650" dirty="0"/>
          </a:p>
        </p:txBody>
      </p:sp>
      <p:sp>
        <p:nvSpPr>
          <p:cNvPr id="19" name="Text 15"/>
          <p:cNvSpPr/>
          <p:nvPr/>
        </p:nvSpPr>
        <p:spPr>
          <a:xfrm>
            <a:off x="8440620" y="4832747"/>
            <a:ext cx="117593" cy="110728"/>
          </a:xfrm>
          <a:prstGeom prst="rect">
            <a:avLst/>
          </a:prstGeom>
          <a:noFill/>
          <a:ln/>
        </p:spPr>
        <p:txBody>
          <a:bodyPr wrap="none" lIns="0" tIns="0" rIns="0" bIns="0" rtlCol="0" anchor="t">
            <a:spAutoFit/>
          </a:bodyPr>
          <a:lstStyle/>
          <a:p>
            <a:pPr algn="l" indent="0" marL="0">
              <a:buNone/>
            </a:pPr>
            <a:r>
              <a:rPr lang="en-US" sz="650" spc="1" kern="0" dirty="0">
                <a:solidFill>
                  <a:srgbClr val="8092A8"/>
                </a:solidFill>
                <a:latin typeface="Arial" pitchFamily="34" charset="0"/>
                <a:ea typeface="Arial" pitchFamily="34" charset="-122"/>
                <a:cs typeface="Arial" pitchFamily="34" charset="-120"/>
              </a:rPr>
              <a:t>12</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2026-08-24T20:13:59Z</dcterms:created>
  <dcterms:modified xsi:type="dcterms:W3CDTF">2026-08-24T20:13:59Z</dcterms:modified>
</cp:coreProperties>
</file>